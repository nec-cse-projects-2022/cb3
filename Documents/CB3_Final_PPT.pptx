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0" r:id="rId4"/>
    <p:sldId id="258" r:id="rId5"/>
    <p:sldId id="259" r:id="rId6"/>
    <p:sldId id="261" r:id="rId7"/>
    <p:sldId id="262" r:id="rId8"/>
    <p:sldId id="264" r:id="rId9"/>
    <p:sldId id="263" r:id="rId10"/>
    <p:sldId id="265" r:id="rId11"/>
    <p:sldId id="266" r:id="rId12"/>
    <p:sldId id="267" r:id="rId13"/>
    <p:sldId id="268" r:id="rId14"/>
    <p:sldId id="276" r:id="rId15"/>
    <p:sldId id="277" r:id="rId16"/>
    <p:sldId id="278" r:id="rId17"/>
    <p:sldId id="269" r:id="rId18"/>
    <p:sldId id="270" r:id="rId19"/>
    <p:sldId id="271" r:id="rId20"/>
    <p:sldId id="274" r:id="rId21"/>
    <p:sldId id="275" r:id="rId2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0" d="100"/>
          <a:sy n="70" d="100"/>
        </p:scale>
        <p:origin x="714" y="72"/>
      </p:cViewPr>
      <p:guideLst>
        <p:guide orient="horz" pos="2880"/>
        <p:guide pos="21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2806699" y="529843"/>
            <a:ext cx="6578600" cy="701040"/>
          </a:xfrm>
          <a:prstGeom prst="rect">
            <a:avLst/>
          </a:prstGeom>
        </p:spPr>
        <p:txBody>
          <a:bodyPr wrap="square" lIns="0" tIns="0" rIns="0" bIns="0">
            <a:spAutoFit/>
          </a:bodyPr>
          <a:lstStyle>
            <a:lvl1pPr>
              <a:defRPr sz="44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917575" y="1336357"/>
            <a:ext cx="10356850" cy="448754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6529987" y="6451049"/>
            <a:ext cx="1242059"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5" name="Holder 5"/>
          <p:cNvSpPr>
            <a:spLocks noGrp="1"/>
          </p:cNvSpPr>
          <p:nvPr>
            <p:ph type="dt" sz="half" idx="6"/>
          </p:nvPr>
        </p:nvSpPr>
        <p:spPr>
          <a:xfrm>
            <a:off x="917575" y="6451049"/>
            <a:ext cx="749935"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12700">
              <a:lnSpc>
                <a:spcPts val="1410"/>
              </a:lnSpc>
            </a:pPr>
            <a:r>
              <a:rPr spc="5" dirty="0"/>
              <a:t>24-12-2023</a:t>
            </a:r>
            <a:endParaRPr spc="5" dirty="0"/>
          </a:p>
        </p:txBody>
      </p:sp>
      <p:sp>
        <p:nvSpPr>
          <p:cNvPr id="6" name="Holder 6"/>
          <p:cNvSpPr>
            <a:spLocks noGrp="1"/>
          </p:cNvSpPr>
          <p:nvPr>
            <p:ph type="sldNum" sz="quarter" idx="7"/>
          </p:nvPr>
        </p:nvSpPr>
        <p:spPr>
          <a:xfrm>
            <a:off x="11082401" y="6451049"/>
            <a:ext cx="228600" cy="194309"/>
          </a:xfrm>
          <a:prstGeom prst="rect">
            <a:avLst/>
          </a:prstGeom>
        </p:spPr>
        <p:txBody>
          <a:bodyPr wrap="square" lIns="0" tIns="0" rIns="0" bIns="0">
            <a:spAutoFit/>
          </a:bodyPr>
          <a:lstStyle>
            <a:lvl1pPr>
              <a:defRPr sz="1200" b="0" i="0">
                <a:solidFill>
                  <a:srgbClr val="888888"/>
                </a:solidFill>
                <a:latin typeface="Times New Roman" panose="02020603050405020304"/>
                <a:cs typeface="Times New Roman" panose="02020603050405020304"/>
              </a:defRPr>
            </a:lvl1pPr>
          </a:lstStyle>
          <a:p>
            <a:pPr marL="38100">
              <a:lnSpc>
                <a:spcPts val="1410"/>
              </a:lnSpc>
            </a:pPr>
            <a:fld id="{81D60167-4931-47E6-BA6A-407CBD079E47}" type="slidenum">
              <a:rPr dirty="0"/>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072639" y="696704"/>
            <a:ext cx="8277859" cy="1518920"/>
          </a:xfrm>
          <a:prstGeom prst="rect">
            <a:avLst/>
          </a:prstGeom>
        </p:spPr>
        <p:txBody>
          <a:bodyPr vert="horz" wrap="square" lIns="0" tIns="64769" rIns="0" bIns="0" rtlCol="0">
            <a:spAutoFit/>
          </a:bodyPr>
          <a:lstStyle/>
          <a:p>
            <a:pPr algn="ctr">
              <a:lnSpc>
                <a:spcPct val="100000"/>
              </a:lnSpc>
              <a:spcBef>
                <a:spcPts val="510"/>
              </a:spcBef>
            </a:pPr>
            <a:r>
              <a:rPr sz="1800" spc="-10" dirty="0"/>
              <a:t>Department</a:t>
            </a:r>
            <a:r>
              <a:rPr sz="1800" spc="65" dirty="0"/>
              <a:t> </a:t>
            </a:r>
            <a:r>
              <a:rPr sz="1800" dirty="0"/>
              <a:t>of</a:t>
            </a:r>
            <a:r>
              <a:rPr sz="1800" spc="-10" dirty="0"/>
              <a:t> </a:t>
            </a:r>
            <a:r>
              <a:rPr sz="1800" spc="-20" dirty="0"/>
              <a:t>Computer</a:t>
            </a:r>
            <a:r>
              <a:rPr sz="1800" spc="90" dirty="0"/>
              <a:t> </a:t>
            </a:r>
            <a:r>
              <a:rPr sz="1800" dirty="0"/>
              <a:t>Science</a:t>
            </a:r>
            <a:r>
              <a:rPr sz="1800" spc="-60" dirty="0"/>
              <a:t> </a:t>
            </a:r>
            <a:r>
              <a:rPr sz="1800" spc="-10" dirty="0"/>
              <a:t>and</a:t>
            </a:r>
            <a:r>
              <a:rPr sz="1800" spc="40" dirty="0"/>
              <a:t> </a:t>
            </a:r>
            <a:r>
              <a:rPr sz="1800" dirty="0"/>
              <a:t>Engineering</a:t>
            </a:r>
            <a:endParaRPr sz="1800" dirty="0"/>
          </a:p>
          <a:p>
            <a:pPr algn="ctr">
              <a:lnSpc>
                <a:spcPct val="100000"/>
              </a:lnSpc>
              <a:spcBef>
                <a:spcPts val="545"/>
              </a:spcBef>
            </a:pPr>
            <a:r>
              <a:rPr lang="en-US" altLang="en-US" sz="2400" spc="5" dirty="0">
                <a:solidFill>
                  <a:srgbClr val="FF0000"/>
                </a:solidFill>
              </a:rPr>
              <a:t>SignSight : A Robust Deep Vision Framework for Real-Time Perception of Traffic Sign Under Adverse Weather Conditions</a:t>
            </a:r>
            <a:br>
              <a:rPr lang="en-US" altLang="en-US" sz="2400" spc="5" dirty="0">
                <a:solidFill>
                  <a:srgbClr val="FF0000"/>
                </a:solidFill>
              </a:rPr>
            </a:br>
            <a:endParaRPr lang="en-US" altLang="en-US" sz="2400" spc="5" dirty="0">
              <a:solidFill>
                <a:srgbClr val="FF0000"/>
              </a:solidFill>
            </a:endParaRPr>
          </a:p>
        </p:txBody>
      </p:sp>
      <p:sp>
        <p:nvSpPr>
          <p:cNvPr id="6" name="object 6"/>
          <p:cNvSpPr txBox="1"/>
          <p:nvPr/>
        </p:nvSpPr>
        <p:spPr>
          <a:xfrm>
            <a:off x="5257800" y="2137410"/>
            <a:ext cx="1664335" cy="254000"/>
          </a:xfrm>
          <a:prstGeom prst="rect">
            <a:avLst/>
          </a:prstGeom>
        </p:spPr>
        <p:txBody>
          <a:bodyPr vert="horz" wrap="square" lIns="0" tIns="15875" rIns="0" bIns="0" rtlCol="0">
            <a:spAutoFit/>
          </a:bodyPr>
          <a:lstStyle/>
          <a:p>
            <a:pPr marL="12700">
              <a:lnSpc>
                <a:spcPct val="100000"/>
              </a:lnSpc>
              <a:spcBef>
                <a:spcPts val="125"/>
              </a:spcBef>
            </a:pPr>
            <a:r>
              <a:rPr sz="1550" b="1" spc="5" dirty="0">
                <a:latin typeface="Times New Roman" panose="02020603050405020304"/>
                <a:cs typeface="Times New Roman" panose="02020603050405020304"/>
              </a:rPr>
              <a:t>PRESENTED</a:t>
            </a:r>
            <a:r>
              <a:rPr sz="1550" b="1" spc="120" dirty="0">
                <a:latin typeface="Times New Roman" panose="02020603050405020304"/>
                <a:cs typeface="Times New Roman" panose="02020603050405020304"/>
              </a:rPr>
              <a:t> </a:t>
            </a:r>
            <a:r>
              <a:rPr sz="1550" b="1" spc="15" dirty="0">
                <a:latin typeface="Times New Roman" panose="02020603050405020304"/>
                <a:cs typeface="Times New Roman" panose="02020603050405020304"/>
              </a:rPr>
              <a:t>BY</a:t>
            </a:r>
            <a:endParaRPr sz="1550" b="1" dirty="0">
              <a:latin typeface="Times New Roman" panose="02020603050405020304"/>
              <a:cs typeface="Times New Roman" panose="02020603050405020304"/>
            </a:endParaRPr>
          </a:p>
        </p:txBody>
      </p:sp>
      <p:sp>
        <p:nvSpPr>
          <p:cNvPr id="7" name="object 7"/>
          <p:cNvSpPr txBox="1"/>
          <p:nvPr/>
        </p:nvSpPr>
        <p:spPr>
          <a:xfrm>
            <a:off x="3883025" y="2576195"/>
            <a:ext cx="8308975" cy="1033145"/>
          </a:xfrm>
          <a:prstGeom prst="rect">
            <a:avLst/>
          </a:prstGeom>
        </p:spPr>
        <p:txBody>
          <a:bodyPr vert="horz" wrap="square" lIns="0" tIns="12065" rIns="0" bIns="0" rtlCol="0">
            <a:spAutoFit/>
          </a:bodyPr>
          <a:lstStyle/>
          <a:p>
            <a:pPr marL="12700" marR="5080" indent="8890">
              <a:lnSpc>
                <a:spcPct val="137000"/>
              </a:lnSpc>
              <a:spcBef>
                <a:spcPts val="95"/>
              </a:spcBef>
            </a:pPr>
            <a:r>
              <a:rPr lang="en-US" altLang="en-IN" sz="1600" spc="-10" dirty="0" smtClean="0">
                <a:latin typeface="Times New Roman" panose="02020603050405020304" pitchFamily="18" charset="0"/>
                <a:cs typeface="Times New Roman" panose="02020603050405020304" pitchFamily="18" charset="0"/>
              </a:rPr>
              <a:t>Nallamothu Vinay		</a:t>
            </a:r>
            <a:r>
              <a:rPr lang="en-IN" sz="1600" spc="-10" dirty="0" smtClean="0">
                <a:latin typeface="Times New Roman" panose="02020603050405020304" pitchFamily="18" charset="0"/>
                <a:cs typeface="Times New Roman" panose="02020603050405020304" pitchFamily="18" charset="0"/>
              </a:rPr>
              <a:t>(2</a:t>
            </a:r>
            <a:r>
              <a:rPr lang="en-US" altLang="en-IN" sz="1600" spc="-10" dirty="0" smtClean="0">
                <a:latin typeface="Times New Roman" panose="02020603050405020304" pitchFamily="18" charset="0"/>
                <a:cs typeface="Times New Roman" panose="02020603050405020304" pitchFamily="18" charset="0"/>
              </a:rPr>
              <a:t>2</a:t>
            </a:r>
            <a:r>
              <a:rPr lang="en-IN" sz="1600" spc="-10" dirty="0" smtClean="0">
                <a:latin typeface="Times New Roman" panose="02020603050405020304" pitchFamily="18" charset="0"/>
                <a:cs typeface="Times New Roman" panose="02020603050405020304" pitchFamily="18" charset="0"/>
              </a:rPr>
              <a:t>471A05</a:t>
            </a:r>
            <a:r>
              <a:rPr lang="en-US" altLang="en-IN" sz="1600" spc="-10" dirty="0" smtClean="0">
                <a:latin typeface="Times New Roman" panose="02020603050405020304" pitchFamily="18" charset="0"/>
                <a:cs typeface="Times New Roman" panose="02020603050405020304" pitchFamily="18" charset="0"/>
              </a:rPr>
              <a:t>H9</a:t>
            </a:r>
            <a:r>
              <a:rPr lang="en-IN" sz="1600" spc="-10" dirty="0" smtClean="0">
                <a:latin typeface="Times New Roman" panose="02020603050405020304" pitchFamily="18" charset="0"/>
                <a:cs typeface="Times New Roman" panose="02020603050405020304" pitchFamily="18" charset="0"/>
              </a:rPr>
              <a:t>)</a:t>
            </a:r>
            <a:endParaRPr lang="en-IN" sz="1600" spc="-10" dirty="0">
              <a:latin typeface="Times New Roman" panose="02020603050405020304" pitchFamily="18" charset="0"/>
              <a:cs typeface="Times New Roman" panose="02020603050405020304" pitchFamily="18" charset="0"/>
            </a:endParaRPr>
          </a:p>
          <a:p>
            <a:pPr marL="12700" marR="5080" indent="8890">
              <a:lnSpc>
                <a:spcPct val="137000"/>
              </a:lnSpc>
              <a:spcBef>
                <a:spcPts val="95"/>
              </a:spcBef>
            </a:pPr>
            <a:r>
              <a:rPr lang="en-US" sz="1600" spc="-10" dirty="0" smtClean="0">
                <a:latin typeface="Times New Roman" panose="02020603050405020304" pitchFamily="18" charset="0"/>
                <a:cs typeface="Times New Roman" panose="02020603050405020304" pitchFamily="18" charset="0"/>
              </a:rPr>
              <a:t>Eerlapati Lakshmaiah		(22471A05F5)</a:t>
            </a:r>
            <a:endParaRPr lang="en-IN" sz="1600" spc="-20" dirty="0">
              <a:latin typeface="Times New Roman" panose="02020603050405020304" pitchFamily="18" charset="0"/>
              <a:cs typeface="Times New Roman" panose="02020603050405020304" pitchFamily="18" charset="0"/>
            </a:endParaRPr>
          </a:p>
          <a:p>
            <a:pPr marL="21590">
              <a:lnSpc>
                <a:spcPct val="100000"/>
              </a:lnSpc>
              <a:spcBef>
                <a:spcPts val="690"/>
              </a:spcBef>
            </a:pPr>
            <a:r>
              <a:rPr lang="en-US" altLang="en-IN" sz="1600" spc="-20" dirty="0" smtClean="0">
                <a:latin typeface="Times New Roman" panose="02020603050405020304" pitchFamily="18" charset="0"/>
                <a:cs typeface="Times New Roman" panose="02020603050405020304" pitchFamily="18" charset="0"/>
              </a:rPr>
              <a:t>Yepuri Teja Naga Anil Kumar	</a:t>
            </a:r>
            <a:r>
              <a:rPr lang="en-IN" sz="1600" spc="-20" dirty="0" smtClean="0">
                <a:latin typeface="Times New Roman" panose="02020603050405020304" pitchFamily="18" charset="0"/>
                <a:cs typeface="Times New Roman" panose="02020603050405020304" pitchFamily="18" charset="0"/>
              </a:rPr>
              <a:t>(2</a:t>
            </a:r>
            <a:r>
              <a:rPr lang="en-US" altLang="en-IN" sz="1600" spc="-20" dirty="0" smtClean="0">
                <a:latin typeface="Times New Roman" panose="02020603050405020304" pitchFamily="18" charset="0"/>
                <a:cs typeface="Times New Roman" panose="02020603050405020304" pitchFamily="18" charset="0"/>
              </a:rPr>
              <a:t>2</a:t>
            </a:r>
            <a:r>
              <a:rPr lang="en-IN" sz="1600" spc="-20" dirty="0" smtClean="0">
                <a:latin typeface="Times New Roman" panose="02020603050405020304" pitchFamily="18" charset="0"/>
                <a:cs typeface="Times New Roman" panose="02020603050405020304" pitchFamily="18" charset="0"/>
              </a:rPr>
              <a:t>471A05</a:t>
            </a:r>
            <a:r>
              <a:rPr lang="en-US" altLang="en-IN" sz="1600" spc="-20" dirty="0" smtClean="0">
                <a:latin typeface="Times New Roman" panose="02020603050405020304" pitchFamily="18" charset="0"/>
                <a:cs typeface="Times New Roman" panose="02020603050405020304" pitchFamily="18" charset="0"/>
              </a:rPr>
              <a:t>L0</a:t>
            </a:r>
            <a:r>
              <a:rPr lang="en-IN" sz="1600" spc="-20" dirty="0" smtClean="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3508375" y="4038600"/>
            <a:ext cx="4802505" cy="1936750"/>
          </a:xfrm>
          <a:prstGeom prst="rect">
            <a:avLst/>
          </a:prstGeom>
        </p:spPr>
        <p:txBody>
          <a:bodyPr vert="horz" wrap="square" lIns="0" tIns="20320" rIns="0" bIns="0" rtlCol="0">
            <a:spAutoFit/>
          </a:bodyPr>
          <a:lstStyle/>
          <a:p>
            <a:pPr marL="1022350" marR="1009650" algn="ctr">
              <a:lnSpc>
                <a:spcPct val="122000"/>
              </a:lnSpc>
              <a:spcBef>
                <a:spcPts val="160"/>
              </a:spcBef>
            </a:pPr>
            <a:r>
              <a:rPr sz="1800" spc="-15" dirty="0">
                <a:solidFill>
                  <a:srgbClr val="006600"/>
                </a:solidFill>
                <a:latin typeface="Times New Roman" panose="02020603050405020304"/>
                <a:cs typeface="Times New Roman" panose="02020603050405020304"/>
              </a:rPr>
              <a:t>Under</a:t>
            </a:r>
            <a:r>
              <a:rPr sz="1800" spc="50" dirty="0">
                <a:solidFill>
                  <a:srgbClr val="006600"/>
                </a:solidFill>
                <a:latin typeface="Times New Roman" panose="02020603050405020304"/>
                <a:cs typeface="Times New Roman" panose="02020603050405020304"/>
              </a:rPr>
              <a:t> </a:t>
            </a:r>
            <a:r>
              <a:rPr sz="1800" spc="5" dirty="0">
                <a:solidFill>
                  <a:srgbClr val="006600"/>
                </a:solidFill>
                <a:latin typeface="Times New Roman" panose="02020603050405020304"/>
                <a:cs typeface="Times New Roman" panose="02020603050405020304"/>
              </a:rPr>
              <a:t>the</a:t>
            </a:r>
            <a:r>
              <a:rPr sz="1800" spc="-65" dirty="0">
                <a:solidFill>
                  <a:srgbClr val="006600"/>
                </a:solidFill>
                <a:latin typeface="Times New Roman" panose="02020603050405020304"/>
                <a:cs typeface="Times New Roman" panose="02020603050405020304"/>
              </a:rPr>
              <a:t> </a:t>
            </a:r>
            <a:r>
              <a:rPr sz="1800" spc="-5" dirty="0">
                <a:solidFill>
                  <a:srgbClr val="006600"/>
                </a:solidFill>
                <a:latin typeface="Times New Roman" panose="02020603050405020304"/>
                <a:cs typeface="Times New Roman" panose="02020603050405020304"/>
              </a:rPr>
              <a:t>G</a:t>
            </a:r>
            <a:r>
              <a:rPr lang="en-IN" sz="1800" spc="-5" dirty="0" err="1">
                <a:solidFill>
                  <a:srgbClr val="006600"/>
                </a:solidFill>
                <a:latin typeface="Times New Roman" panose="02020603050405020304"/>
                <a:cs typeface="Times New Roman" panose="02020603050405020304"/>
              </a:rPr>
              <a:t>uidance</a:t>
            </a:r>
            <a:r>
              <a:rPr lang="en-IN" sz="1800" spc="5" dirty="0">
                <a:solidFill>
                  <a:srgbClr val="006600"/>
                </a:solidFill>
                <a:latin typeface="Times New Roman" panose="02020603050405020304"/>
                <a:cs typeface="Times New Roman" panose="02020603050405020304"/>
              </a:rPr>
              <a:t> </a:t>
            </a:r>
            <a:r>
              <a:rPr lang="en-IN" sz="1800" dirty="0">
                <a:solidFill>
                  <a:srgbClr val="006600"/>
                </a:solidFill>
                <a:latin typeface="Times New Roman" panose="02020603050405020304"/>
                <a:cs typeface="Times New Roman" panose="02020603050405020304"/>
              </a:rPr>
              <a:t>of</a:t>
            </a:r>
            <a:r>
              <a:rPr lang="en-IN" dirty="0">
                <a:solidFill>
                  <a:srgbClr val="006600"/>
                </a:solidFill>
                <a:latin typeface="Times New Roman" panose="02020603050405020304"/>
                <a:cs typeface="Times New Roman" panose="02020603050405020304"/>
              </a:rPr>
              <a:t>  </a:t>
            </a:r>
            <a:endParaRPr lang="en-IN" dirty="0">
              <a:solidFill>
                <a:srgbClr val="006600"/>
              </a:solidFill>
              <a:latin typeface="Times New Roman" panose="02020603050405020304"/>
              <a:cs typeface="Times New Roman" panose="02020603050405020304"/>
            </a:endParaRP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Marella Venkata Rao, </a:t>
            </a:r>
            <a:r>
              <a:rPr lang="en-US" sz="1400" dirty="0">
                <a:effectLst/>
                <a:latin typeface="Times New Roman" panose="02020603050405020304" pitchFamily="18" charset="0"/>
                <a:ea typeface="Times New Roman" panose="02020603050405020304" pitchFamily="18" charset="0"/>
              </a:rPr>
              <a:t>M.Tech, </a:t>
            </a:r>
            <a:r>
              <a:rPr lang="en-IN" sz="1550" spc="-5" dirty="0">
                <a:latin typeface="Times New Roman" panose="02020603050405020304"/>
                <a:cs typeface="Times New Roman" panose="02020603050405020304"/>
              </a:rPr>
              <a:t>Asst. Professor</a:t>
            </a:r>
            <a:r>
              <a:rPr lang="en-IN" sz="1550" b="1" dirty="0">
                <a:latin typeface="Times New Roman" panose="02020603050405020304"/>
                <a:cs typeface="Times New Roman" panose="02020603050405020304"/>
              </a:rPr>
              <a:t> </a:t>
            </a:r>
            <a:endParaRPr lang="en-IN" sz="1550" dirty="0">
              <a:latin typeface="Times New Roman" panose="02020603050405020304"/>
              <a:cs typeface="Times New Roman" panose="02020603050405020304"/>
            </a:endParaRPr>
          </a:p>
          <a:p>
            <a:pPr algn="ctr">
              <a:lnSpc>
                <a:spcPct val="100000"/>
              </a:lnSpc>
              <a:spcBef>
                <a:spcPts val="1070"/>
              </a:spcBef>
            </a:pPr>
            <a:r>
              <a:rPr sz="1550" spc="-10" dirty="0">
                <a:solidFill>
                  <a:srgbClr val="888888"/>
                </a:solidFill>
                <a:latin typeface="Times New Roman" panose="02020603050405020304"/>
                <a:cs typeface="Times New Roman" panose="02020603050405020304"/>
              </a:rPr>
              <a:t>Department</a:t>
            </a:r>
            <a:r>
              <a:rPr sz="1550" spc="290" dirty="0">
                <a:solidFill>
                  <a:srgbClr val="888888"/>
                </a:solidFill>
                <a:latin typeface="Times New Roman" panose="02020603050405020304"/>
                <a:cs typeface="Times New Roman" panose="02020603050405020304"/>
              </a:rPr>
              <a:t> </a:t>
            </a:r>
            <a:r>
              <a:rPr sz="1550" spc="25" dirty="0">
                <a:solidFill>
                  <a:srgbClr val="888888"/>
                </a:solidFill>
                <a:latin typeface="Times New Roman" panose="02020603050405020304"/>
                <a:cs typeface="Times New Roman" panose="02020603050405020304"/>
              </a:rPr>
              <a:t>of</a:t>
            </a:r>
            <a:r>
              <a:rPr sz="1550" spc="-15"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Computer</a:t>
            </a:r>
            <a:r>
              <a:rPr sz="1550" spc="135" dirty="0">
                <a:solidFill>
                  <a:srgbClr val="888888"/>
                </a:solidFill>
                <a:latin typeface="Times New Roman" panose="02020603050405020304"/>
                <a:cs typeface="Times New Roman" panose="02020603050405020304"/>
              </a:rPr>
              <a:t> </a:t>
            </a:r>
            <a:r>
              <a:rPr sz="1550" spc="-15" dirty="0">
                <a:solidFill>
                  <a:srgbClr val="888888"/>
                </a:solidFill>
                <a:latin typeface="Times New Roman" panose="02020603050405020304"/>
                <a:cs typeface="Times New Roman" panose="02020603050405020304"/>
              </a:rPr>
              <a:t>Science</a:t>
            </a:r>
            <a:r>
              <a:rPr sz="1550" spc="260"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and</a:t>
            </a:r>
            <a:r>
              <a:rPr sz="1550" spc="90"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Engineering,</a:t>
            </a:r>
            <a:endParaRPr sz="1550" dirty="0">
              <a:latin typeface="Times New Roman" panose="02020603050405020304"/>
              <a:cs typeface="Times New Roman" panose="02020603050405020304"/>
            </a:endParaRPr>
          </a:p>
          <a:p>
            <a:pPr marL="12700" marR="5080" algn="ctr">
              <a:lnSpc>
                <a:spcPct val="174000"/>
              </a:lnSpc>
              <a:spcBef>
                <a:spcPts val="70"/>
              </a:spcBef>
            </a:pPr>
            <a:r>
              <a:rPr sz="1550" spc="-5" dirty="0">
                <a:solidFill>
                  <a:srgbClr val="888888"/>
                </a:solidFill>
                <a:latin typeface="Times New Roman" panose="02020603050405020304"/>
                <a:cs typeface="Times New Roman" panose="02020603050405020304"/>
              </a:rPr>
              <a:t>Narasaraopeta</a:t>
            </a:r>
            <a:r>
              <a:rPr sz="1550" dirty="0">
                <a:solidFill>
                  <a:srgbClr val="888888"/>
                </a:solidFill>
                <a:latin typeface="Times New Roman" panose="02020603050405020304"/>
                <a:cs typeface="Times New Roman" panose="02020603050405020304"/>
              </a:rPr>
              <a:t> </a:t>
            </a:r>
            <a:r>
              <a:rPr sz="1550" spc="-10" dirty="0">
                <a:solidFill>
                  <a:srgbClr val="888888"/>
                </a:solidFill>
                <a:latin typeface="Times New Roman" panose="02020603050405020304"/>
                <a:cs typeface="Times New Roman" panose="02020603050405020304"/>
              </a:rPr>
              <a:t>Engineering</a:t>
            </a:r>
            <a:r>
              <a:rPr sz="1550" spc="-5" dirty="0">
                <a:solidFill>
                  <a:srgbClr val="888888"/>
                </a:solidFill>
                <a:latin typeface="Times New Roman" panose="02020603050405020304"/>
                <a:cs typeface="Times New Roman" panose="02020603050405020304"/>
              </a:rPr>
              <a:t> </a:t>
            </a:r>
            <a:r>
              <a:rPr sz="1550" spc="5" dirty="0">
                <a:solidFill>
                  <a:srgbClr val="888888"/>
                </a:solidFill>
                <a:latin typeface="Times New Roman" panose="02020603050405020304"/>
                <a:cs typeface="Times New Roman" panose="02020603050405020304"/>
              </a:rPr>
              <a:t>College </a:t>
            </a:r>
            <a:r>
              <a:rPr sz="1550" spc="10" dirty="0">
                <a:solidFill>
                  <a:srgbClr val="888888"/>
                </a:solidFill>
                <a:latin typeface="Times New Roman" panose="02020603050405020304"/>
                <a:cs typeface="Times New Roman" panose="02020603050405020304"/>
              </a:rPr>
              <a:t>(Autonomous), </a:t>
            </a:r>
            <a:r>
              <a:rPr sz="1550" spc="-375" dirty="0">
                <a:solidFill>
                  <a:srgbClr val="888888"/>
                </a:solidFill>
                <a:latin typeface="Times New Roman" panose="02020603050405020304"/>
                <a:cs typeface="Times New Roman" panose="02020603050405020304"/>
              </a:rPr>
              <a:t> </a:t>
            </a:r>
            <a:r>
              <a:rPr sz="1550" spc="-5" dirty="0">
                <a:solidFill>
                  <a:srgbClr val="888888"/>
                </a:solidFill>
                <a:latin typeface="Times New Roman" panose="02020603050405020304"/>
                <a:cs typeface="Times New Roman" panose="02020603050405020304"/>
              </a:rPr>
              <a:t>Narasaraopet-</a:t>
            </a:r>
            <a:r>
              <a:rPr sz="1550" spc="285" dirty="0">
                <a:solidFill>
                  <a:srgbClr val="888888"/>
                </a:solidFill>
                <a:latin typeface="Times New Roman" panose="02020603050405020304"/>
                <a:cs typeface="Times New Roman" panose="02020603050405020304"/>
              </a:rPr>
              <a:t> </a:t>
            </a:r>
            <a:r>
              <a:rPr sz="1550" spc="30" dirty="0">
                <a:solidFill>
                  <a:srgbClr val="888888"/>
                </a:solidFill>
                <a:latin typeface="Times New Roman" panose="02020603050405020304"/>
                <a:cs typeface="Times New Roman" panose="02020603050405020304"/>
              </a:rPr>
              <a:t>522</a:t>
            </a:r>
            <a:r>
              <a:rPr sz="1550" spc="20" dirty="0">
                <a:solidFill>
                  <a:srgbClr val="888888"/>
                </a:solidFill>
                <a:latin typeface="Times New Roman" panose="02020603050405020304"/>
                <a:cs typeface="Times New Roman" panose="02020603050405020304"/>
              </a:rPr>
              <a:t> </a:t>
            </a:r>
            <a:r>
              <a:rPr sz="1550" spc="30" dirty="0">
                <a:solidFill>
                  <a:srgbClr val="888888"/>
                </a:solidFill>
                <a:latin typeface="Times New Roman" panose="02020603050405020304"/>
                <a:cs typeface="Times New Roman" panose="02020603050405020304"/>
              </a:rPr>
              <a:t>601.</a:t>
            </a:r>
            <a:endParaRPr sz="1550" dirty="0">
              <a:latin typeface="Times New Roman" panose="02020603050405020304"/>
              <a:cs typeface="Times New Roman" panose="02020603050405020304"/>
            </a:endParaRPr>
          </a:p>
        </p:txBody>
      </p:sp>
      <p:pic>
        <p:nvPicPr>
          <p:cNvPr id="10" name="object 10"/>
          <p:cNvPicPr/>
          <p:nvPr/>
        </p:nvPicPr>
        <p:blipFill>
          <a:blip r:embed="rId1" cstate="print"/>
          <a:stretch>
            <a:fillRect/>
          </a:stretch>
        </p:blipFill>
        <p:spPr>
          <a:xfrm>
            <a:off x="66675" y="131344"/>
            <a:ext cx="3648074" cy="505326"/>
          </a:xfrm>
          <a:prstGeom prst="rect">
            <a:avLst/>
          </a:prstGeom>
        </p:spPr>
      </p:pic>
      <p:sp>
        <p:nvSpPr>
          <p:cNvPr id="11" name="object 11"/>
          <p:cNvSpPr txBox="1">
            <a:spLocks noGrp="1"/>
          </p:cNvSpPr>
          <p:nvPr>
            <p:ph type="dt" sz="half" idx="6"/>
          </p:nvPr>
        </p:nvSpPr>
        <p:spPr>
          <a:xfrm>
            <a:off x="917575" y="6451049"/>
            <a:ext cx="749935" cy="180340"/>
          </a:xfrm>
          <a:prstGeom prst="rect">
            <a:avLst/>
          </a:prstGeom>
        </p:spPr>
        <p:txBody>
          <a:bodyPr vert="horz" wrap="square" lIns="0" tIns="0" rIns="0" bIns="0" rtlCol="0">
            <a:spAutoFit/>
          </a:bodyPr>
          <a:lstStyle/>
          <a:p>
            <a:pPr marL="12700">
              <a:lnSpc>
                <a:spcPts val="1410"/>
              </a:lnSpc>
            </a:pPr>
            <a:r>
              <a:rPr lang="en-US" spc="5" dirty="0"/>
              <a:t>05/12/2025</a:t>
            </a:r>
            <a:endParaRPr lang="en-US" spc="5" dirty="0"/>
          </a:p>
        </p:txBody>
      </p:sp>
      <p:sp>
        <p:nvSpPr>
          <p:cNvPr id="12" name="object 12"/>
          <p:cNvSpPr txBox="1"/>
          <p:nvPr/>
        </p:nvSpPr>
        <p:spPr>
          <a:xfrm>
            <a:off x="4350003" y="6451049"/>
            <a:ext cx="83439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0"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IN" sz="1200" spc="5" dirty="0">
                <a:solidFill>
                  <a:srgbClr val="888888"/>
                </a:solidFill>
                <a:latin typeface="Times New Roman" panose="02020603050405020304"/>
                <a:cs typeface="Times New Roman" panose="02020603050405020304"/>
              </a:rPr>
              <a:t>.</a:t>
            </a:r>
            <a:r>
              <a:rPr lang="en-US" altLang="en-IN" sz="1200" spc="5" dirty="0">
                <a:solidFill>
                  <a:srgbClr val="888888"/>
                </a:solidFill>
                <a:latin typeface="Times New Roman" panose="02020603050405020304"/>
                <a:cs typeface="Times New Roman" panose="02020603050405020304"/>
              </a:rPr>
              <a:t>2</a:t>
            </a:r>
            <a:endParaRPr lang="en-US" altLang="en-IN" sz="1200" spc="5" dirty="0">
              <a:solidFill>
                <a:srgbClr val="888888"/>
              </a:solidFill>
              <a:latin typeface="Times New Roman" panose="02020603050405020304"/>
              <a:cs typeface="Times New Roman" panose="02020603050405020304"/>
            </a:endParaRPr>
          </a:p>
        </p:txBody>
      </p:sp>
      <p:sp>
        <p:nvSpPr>
          <p:cNvPr id="13" name="object 13"/>
          <p:cNvSpPr txBox="1"/>
          <p:nvPr/>
        </p:nvSpPr>
        <p:spPr>
          <a:xfrm>
            <a:off x="5530658" y="6451049"/>
            <a:ext cx="1078421" cy="180340"/>
          </a:xfrm>
          <a:prstGeom prst="rect">
            <a:avLst/>
          </a:prstGeom>
        </p:spPr>
        <p:txBody>
          <a:bodyPr vert="horz" wrap="square" lIns="0" tIns="0" rIns="0" bIns="0" rtlCol="0">
            <a:spAutoFit/>
          </a:bodyPr>
          <a:lstStyle/>
          <a:p>
            <a:pPr marL="12700">
              <a:lnSpc>
                <a:spcPts val="1410"/>
              </a:lnSpc>
            </a:pPr>
            <a:r>
              <a:rPr sz="1200" spc="-20" dirty="0">
                <a:solidFill>
                  <a:srgbClr val="888888"/>
                </a:solidFill>
                <a:latin typeface="Times New Roman" panose="02020603050405020304"/>
                <a:cs typeface="Times New Roman" panose="02020603050405020304"/>
              </a:rPr>
              <a:t>Batch</a:t>
            </a:r>
            <a:r>
              <a:rPr sz="1200" spc="80"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14" name="object 14"/>
          <p:cNvSpPr txBox="1"/>
          <p:nvPr/>
        </p:nvSpPr>
        <p:spPr>
          <a:xfrm>
            <a:off x="6609080" y="6451049"/>
            <a:ext cx="1242060" cy="194310"/>
          </a:xfrm>
          <a:prstGeom prst="rect">
            <a:avLst/>
          </a:prstGeom>
        </p:spPr>
        <p:txBody>
          <a:bodyPr vert="horz" wrap="square" lIns="0" tIns="0" rIns="0" bIns="0" rtlCol="0">
            <a:spAutoFit/>
          </a:bodyPr>
          <a:lstStyle/>
          <a:p>
            <a:pPr marL="12700">
              <a:lnSpc>
                <a:spcPts val="1410"/>
              </a:lnSpc>
            </a:pPr>
            <a:r>
              <a:rPr sz="1200" spc="-35" dirty="0">
                <a:solidFill>
                  <a:srgbClr val="888888"/>
                </a:solidFill>
                <a:latin typeface="Times New Roman" panose="02020603050405020304"/>
                <a:cs typeface="Times New Roman" panose="02020603050405020304"/>
              </a:rPr>
              <a:t>Department</a:t>
            </a:r>
            <a:r>
              <a:rPr sz="1200" spc="295" dirty="0">
                <a:solidFill>
                  <a:srgbClr val="888888"/>
                </a:solidFill>
                <a:latin typeface="Times New Roman" panose="02020603050405020304"/>
                <a:cs typeface="Times New Roman" panose="02020603050405020304"/>
              </a:rPr>
              <a:t> </a:t>
            </a:r>
            <a:r>
              <a:rPr sz="1200" dirty="0">
                <a:solidFill>
                  <a:srgbClr val="888888"/>
                </a:solidFill>
                <a:latin typeface="Times New Roman" panose="02020603050405020304"/>
                <a:cs typeface="Times New Roman" panose="02020603050405020304"/>
              </a:rPr>
              <a:t>of</a:t>
            </a:r>
            <a:r>
              <a:rPr sz="1200" spc="2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CSE</a:t>
            </a:r>
            <a:endParaRPr sz="1200">
              <a:latin typeface="Times New Roman" panose="02020603050405020304"/>
              <a:cs typeface="Times New Roman" panose="02020603050405020304"/>
            </a:endParaRPr>
          </a:p>
        </p:txBody>
      </p:sp>
      <p:sp>
        <p:nvSpPr>
          <p:cNvPr id="15" name="object 15"/>
          <p:cNvSpPr txBox="1"/>
          <p:nvPr/>
        </p:nvSpPr>
        <p:spPr>
          <a:xfrm>
            <a:off x="11184001" y="6451049"/>
            <a:ext cx="101600" cy="180340"/>
          </a:xfrm>
          <a:prstGeom prst="rect">
            <a:avLst/>
          </a:prstGeom>
        </p:spPr>
        <p:txBody>
          <a:bodyPr vert="horz" wrap="square" lIns="0" tIns="0" rIns="0" bIns="0" rtlCol="0">
            <a:spAutoFit/>
          </a:bodyPr>
          <a:lstStyle/>
          <a:p>
            <a:pPr marL="12700">
              <a:lnSpc>
                <a:spcPts val="1410"/>
              </a:lnSpc>
            </a:pPr>
            <a:r>
              <a:rPr lang="en-US" sz="1200">
                <a:latin typeface="Times New Roman" panose="02020603050405020304"/>
                <a:cs typeface="Times New Roman" panose="02020603050405020304"/>
              </a:rPr>
              <a:t>1</a:t>
            </a:r>
            <a:endParaRPr lang="en-US" sz="120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9096" y="529843"/>
            <a:ext cx="2621280" cy="701040"/>
          </a:xfrm>
          <a:prstGeom prst="rect">
            <a:avLst/>
          </a:prstGeom>
        </p:spPr>
        <p:txBody>
          <a:bodyPr vert="horz" wrap="square" lIns="0" tIns="16510" rIns="0" bIns="0" rtlCol="0">
            <a:spAutoFit/>
          </a:bodyPr>
          <a:lstStyle/>
          <a:p>
            <a:pPr marL="12700">
              <a:lnSpc>
                <a:spcPct val="100000"/>
              </a:lnSpc>
              <a:spcBef>
                <a:spcPts val="130"/>
              </a:spcBef>
            </a:pPr>
            <a:r>
              <a:rPr spc="15" dirty="0"/>
              <a:t>OUTLINE</a:t>
            </a:r>
            <a:endParaRPr spc="15" dirty="0"/>
          </a:p>
        </p:txBody>
      </p:sp>
      <p:sp>
        <p:nvSpPr>
          <p:cNvPr id="4" name="object 4"/>
          <p:cNvSpPr txBox="1">
            <a:spLocks noGrp="1"/>
          </p:cNvSpPr>
          <p:nvPr>
            <p:ph type="dt" sz="half" idx="6"/>
          </p:nvPr>
        </p:nvSpPr>
        <p:spPr>
          <a:xfrm>
            <a:off x="917575" y="6451049"/>
            <a:ext cx="911225" cy="361315"/>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p:txBody>
      </p:sp>
      <p:sp>
        <p:nvSpPr>
          <p:cNvPr id="5" name="object 5"/>
          <p:cNvSpPr txBox="1"/>
          <p:nvPr/>
        </p:nvSpPr>
        <p:spPr>
          <a:xfrm>
            <a:off x="4426329" y="6451049"/>
            <a:ext cx="911225"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6"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4" y="1173924"/>
            <a:ext cx="5559426" cy="4530727"/>
          </a:xfrm>
          <a:prstGeom prst="rect">
            <a:avLst/>
          </a:prstGeom>
        </p:spPr>
        <p:txBody>
          <a:bodyPr vert="horz" wrap="square" lIns="0" tIns="62230" rIns="0" bIns="0" rtlCol="0">
            <a:spAutoFit/>
          </a:bodyPr>
          <a:lstStyle/>
          <a:p>
            <a:pPr marL="527685" indent="-514985">
              <a:lnSpc>
                <a:spcPct val="100000"/>
              </a:lnSpc>
              <a:spcBef>
                <a:spcPts val="490"/>
              </a:spcBef>
              <a:buAutoNum type="arabicPeriod"/>
              <a:tabLst>
                <a:tab pos="527050" algn="l"/>
                <a:tab pos="527685" algn="l"/>
              </a:tabLst>
            </a:pPr>
            <a:r>
              <a:rPr sz="1800" dirty="0">
                <a:latin typeface="Times New Roman" panose="02020603050405020304"/>
                <a:cs typeface="Times New Roman" panose="02020603050405020304"/>
              </a:rPr>
              <a:t>Abstract</a:t>
            </a:r>
            <a:endParaRPr sz="1800" dirty="0">
              <a:latin typeface="Times New Roman" panose="02020603050405020304"/>
              <a:cs typeface="Times New Roman" panose="02020603050405020304"/>
            </a:endParaRPr>
          </a:p>
          <a:p>
            <a:pPr marL="527685" indent="-514985">
              <a:lnSpc>
                <a:spcPct val="100000"/>
              </a:lnSpc>
              <a:spcBef>
                <a:spcPts val="390"/>
              </a:spcBef>
              <a:buAutoNum type="arabicPeriod"/>
              <a:tabLst>
                <a:tab pos="527050" algn="l"/>
                <a:tab pos="527685" algn="l"/>
              </a:tabLst>
            </a:pPr>
            <a:r>
              <a:rPr sz="1800" dirty="0">
                <a:latin typeface="Times New Roman" panose="02020603050405020304"/>
                <a:cs typeface="Times New Roman" panose="02020603050405020304"/>
              </a:rPr>
              <a:t>Introduction</a:t>
            </a:r>
            <a:endParaRPr sz="1800" dirty="0">
              <a:latin typeface="Times New Roman" panose="02020603050405020304"/>
              <a:cs typeface="Times New Roman" panose="02020603050405020304"/>
            </a:endParaRPr>
          </a:p>
          <a:p>
            <a:pPr marL="527685" indent="-514985">
              <a:spcBef>
                <a:spcPts val="320"/>
              </a:spcBef>
              <a:buFontTx/>
              <a:buAutoNum type="arabicPeriod"/>
              <a:tabLst>
                <a:tab pos="527050" algn="l"/>
                <a:tab pos="527685" algn="l"/>
              </a:tabLst>
            </a:pPr>
            <a:r>
              <a:rPr lang="en-IN" sz="1800" dirty="0">
                <a:latin typeface="Times New Roman" panose="02020603050405020304"/>
                <a:cs typeface="Times New Roman" panose="02020603050405020304"/>
              </a:rPr>
              <a:t>Problem</a:t>
            </a:r>
            <a:r>
              <a:rPr lang="en-IN" sz="1800" spc="-75" dirty="0">
                <a:latin typeface="Times New Roman" panose="02020603050405020304"/>
                <a:cs typeface="Times New Roman" panose="02020603050405020304"/>
              </a:rPr>
              <a:t> </a:t>
            </a:r>
            <a:r>
              <a:rPr lang="en-IN" sz="1800" spc="-10" dirty="0">
                <a:latin typeface="Times New Roman" panose="02020603050405020304"/>
                <a:cs typeface="Times New Roman" panose="02020603050405020304"/>
              </a:rPr>
              <a:t>Statement</a:t>
            </a:r>
            <a:endParaRPr sz="1800" dirty="0">
              <a:latin typeface="Times New Roman" panose="02020603050405020304"/>
              <a:cs typeface="Times New Roman" panose="02020603050405020304"/>
            </a:endParaRPr>
          </a:p>
          <a:p>
            <a:pPr marL="527685" indent="-514985">
              <a:lnSpc>
                <a:spcPct val="100000"/>
              </a:lnSpc>
              <a:spcBef>
                <a:spcPts val="395"/>
              </a:spcBef>
              <a:buAutoNum type="arabicPeriod"/>
              <a:tabLst>
                <a:tab pos="527050" algn="l"/>
                <a:tab pos="527685" algn="l"/>
              </a:tabLst>
            </a:pPr>
            <a:r>
              <a:rPr lang="en-IN" sz="1800" spc="5" dirty="0">
                <a:latin typeface="Times New Roman" panose="02020603050405020304"/>
                <a:cs typeface="Times New Roman" panose="02020603050405020304"/>
              </a:rPr>
              <a:t>Literature</a:t>
            </a:r>
            <a:r>
              <a:rPr lang="en-IN" sz="1800" spc="-95" dirty="0">
                <a:latin typeface="Times New Roman" panose="02020603050405020304"/>
                <a:cs typeface="Times New Roman" panose="02020603050405020304"/>
              </a:rPr>
              <a:t> </a:t>
            </a:r>
            <a:r>
              <a:rPr lang="en-IN" sz="1800" spc="-15" dirty="0">
                <a:latin typeface="Times New Roman" panose="02020603050405020304"/>
                <a:cs typeface="Times New Roman" panose="02020603050405020304"/>
              </a:rPr>
              <a:t>Survey</a:t>
            </a:r>
            <a:endParaRPr sz="1800" dirty="0">
              <a:latin typeface="Times New Roman" panose="02020603050405020304"/>
              <a:cs typeface="Times New Roman" panose="02020603050405020304"/>
            </a:endParaRPr>
          </a:p>
          <a:p>
            <a:pPr marL="527685" indent="-514985">
              <a:lnSpc>
                <a:spcPct val="100000"/>
              </a:lnSpc>
              <a:spcBef>
                <a:spcPts val="320"/>
              </a:spcBef>
              <a:buAutoNum type="arabicPeriod"/>
              <a:tabLst>
                <a:tab pos="527050" algn="l"/>
                <a:tab pos="527685" algn="l"/>
              </a:tabLst>
            </a:pPr>
            <a:r>
              <a:rPr lang="en-IN" sz="1800" spc="5" dirty="0">
                <a:latin typeface="Times New Roman" panose="02020603050405020304"/>
                <a:cs typeface="Times New Roman" panose="02020603050405020304"/>
              </a:rPr>
              <a:t>Research</a:t>
            </a:r>
            <a:r>
              <a:rPr lang="en-IN" sz="1800" spc="-110" dirty="0">
                <a:latin typeface="Times New Roman" panose="02020603050405020304"/>
                <a:cs typeface="Times New Roman" panose="02020603050405020304"/>
              </a:rPr>
              <a:t> </a:t>
            </a:r>
            <a:r>
              <a:rPr lang="en-IN" sz="1800" spc="-5" dirty="0">
                <a:latin typeface="Times New Roman" panose="02020603050405020304"/>
                <a:cs typeface="Times New Roman" panose="02020603050405020304"/>
              </a:rPr>
              <a:t>Gaps </a:t>
            </a:r>
            <a:endParaRPr sz="1800" dirty="0">
              <a:latin typeface="Times New Roman" panose="02020603050405020304"/>
              <a:cs typeface="Times New Roman" panose="02020603050405020304"/>
            </a:endParaRPr>
          </a:p>
          <a:p>
            <a:pPr marL="527685" indent="-514985">
              <a:lnSpc>
                <a:spcPct val="100000"/>
              </a:lnSpc>
              <a:spcBef>
                <a:spcPts val="390"/>
              </a:spcBef>
              <a:buAutoNum type="arabicPeriod"/>
              <a:tabLst>
                <a:tab pos="527050" algn="l"/>
                <a:tab pos="527685" algn="l"/>
              </a:tabLst>
            </a:pPr>
            <a:r>
              <a:rPr sz="1800" spc="-5" dirty="0">
                <a:latin typeface="Times New Roman" panose="02020603050405020304"/>
                <a:cs typeface="Times New Roman" panose="02020603050405020304"/>
              </a:rPr>
              <a:t>Objectives</a:t>
            </a:r>
            <a:endParaRPr sz="1800" dirty="0">
              <a:latin typeface="Times New Roman" panose="02020603050405020304"/>
              <a:cs typeface="Times New Roman" panose="02020603050405020304"/>
            </a:endParaRPr>
          </a:p>
          <a:p>
            <a:pPr marL="527685" indent="-514985">
              <a:spcBef>
                <a:spcPts val="320"/>
              </a:spcBef>
              <a:buFontTx/>
              <a:buAutoNum type="arabicPeriod"/>
              <a:tabLst>
                <a:tab pos="527050" algn="l"/>
                <a:tab pos="527685" algn="l"/>
              </a:tabLst>
            </a:pPr>
            <a:r>
              <a:rPr lang="en-IN" sz="1800" spc="-15" dirty="0">
                <a:latin typeface="Times New Roman" panose="02020603050405020304"/>
                <a:cs typeface="Times New Roman" panose="02020603050405020304"/>
              </a:rPr>
              <a:t>Methodology</a:t>
            </a:r>
            <a:r>
              <a:rPr lang="en-IN" sz="1800" spc="-20" dirty="0">
                <a:latin typeface="Times New Roman" panose="02020603050405020304"/>
                <a:cs typeface="Times New Roman" panose="02020603050405020304"/>
              </a:rPr>
              <a:t> </a:t>
            </a:r>
            <a:endParaRPr sz="1800" dirty="0">
              <a:latin typeface="Times New Roman" panose="02020603050405020304"/>
              <a:cs typeface="Times New Roman" panose="02020603050405020304"/>
            </a:endParaRPr>
          </a:p>
          <a:p>
            <a:pPr marL="527685" indent="-514985">
              <a:lnSpc>
                <a:spcPct val="100000"/>
              </a:lnSpc>
              <a:spcBef>
                <a:spcPts val="390"/>
              </a:spcBef>
              <a:buAutoNum type="arabicPeriod"/>
              <a:tabLst>
                <a:tab pos="527050" algn="l"/>
                <a:tab pos="527685" algn="l"/>
              </a:tabLst>
            </a:pPr>
            <a:r>
              <a:rPr lang="en-IN" sz="1800" spc="-10" dirty="0">
                <a:latin typeface="Times New Roman" panose="02020603050405020304"/>
                <a:cs typeface="Times New Roman" panose="02020603050405020304"/>
              </a:rPr>
              <a:t>Block</a:t>
            </a:r>
            <a:r>
              <a:rPr lang="en-IN" sz="1800" spc="-5" dirty="0">
                <a:latin typeface="Times New Roman" panose="02020603050405020304"/>
                <a:cs typeface="Times New Roman" panose="02020603050405020304"/>
              </a:rPr>
              <a:t> </a:t>
            </a:r>
            <a:r>
              <a:rPr lang="en-IN" sz="1800" spc="-20" dirty="0">
                <a:latin typeface="Times New Roman" panose="02020603050405020304"/>
                <a:cs typeface="Times New Roman" panose="02020603050405020304"/>
              </a:rPr>
              <a:t>Diagram</a:t>
            </a:r>
            <a:r>
              <a:rPr lang="en-IN" sz="1800" spc="90" dirty="0">
                <a:latin typeface="Times New Roman" panose="02020603050405020304"/>
                <a:cs typeface="Times New Roman" panose="02020603050405020304"/>
              </a:rPr>
              <a:t> </a:t>
            </a:r>
            <a:r>
              <a:rPr lang="en-IN" sz="1800" dirty="0">
                <a:latin typeface="Times New Roman" panose="02020603050405020304"/>
                <a:cs typeface="Times New Roman" panose="02020603050405020304"/>
              </a:rPr>
              <a:t>/</a:t>
            </a:r>
            <a:r>
              <a:rPr lang="en-IN" sz="1800" spc="20" dirty="0">
                <a:latin typeface="Times New Roman" panose="02020603050405020304"/>
                <a:cs typeface="Times New Roman" panose="02020603050405020304"/>
              </a:rPr>
              <a:t> </a:t>
            </a:r>
            <a:r>
              <a:rPr lang="en-IN" sz="1800" spc="-25" dirty="0">
                <a:latin typeface="Times New Roman" panose="02020603050405020304"/>
                <a:cs typeface="Times New Roman" panose="02020603050405020304"/>
              </a:rPr>
              <a:t>Flow</a:t>
            </a:r>
            <a:r>
              <a:rPr lang="en-IN" sz="1800" spc="40" dirty="0">
                <a:latin typeface="Times New Roman" panose="02020603050405020304"/>
                <a:cs typeface="Times New Roman" panose="02020603050405020304"/>
              </a:rPr>
              <a:t> </a:t>
            </a:r>
            <a:r>
              <a:rPr lang="en-IN" sz="1800" spc="-20" dirty="0">
                <a:latin typeface="Times New Roman" panose="02020603050405020304"/>
                <a:cs typeface="Times New Roman" panose="02020603050405020304"/>
              </a:rPr>
              <a:t>Diagram </a:t>
            </a:r>
            <a:endParaRPr sz="1800" dirty="0">
              <a:latin typeface="Times New Roman" panose="02020603050405020304"/>
              <a:cs typeface="Times New Roman" panose="02020603050405020304"/>
            </a:endParaRPr>
          </a:p>
          <a:p>
            <a:pPr marL="527685" indent="-514985">
              <a:lnSpc>
                <a:spcPct val="100000"/>
              </a:lnSpc>
              <a:spcBef>
                <a:spcPts val="320"/>
              </a:spcBef>
              <a:buAutoNum type="arabicPeriod"/>
              <a:tabLst>
                <a:tab pos="527050" algn="l"/>
                <a:tab pos="527685" algn="l"/>
              </a:tabLst>
            </a:pPr>
            <a:r>
              <a:rPr sz="1800" spc="-10" dirty="0">
                <a:latin typeface="Times New Roman" panose="02020603050405020304"/>
                <a:cs typeface="Times New Roman" panose="02020603050405020304"/>
              </a:rPr>
              <a:t>Implementation</a:t>
            </a:r>
            <a:endParaRPr sz="1800" dirty="0">
              <a:latin typeface="Times New Roman" panose="02020603050405020304"/>
              <a:cs typeface="Times New Roman" panose="02020603050405020304"/>
            </a:endParaRPr>
          </a:p>
          <a:p>
            <a:pPr marL="527685" indent="-514985">
              <a:lnSpc>
                <a:spcPct val="100000"/>
              </a:lnSpc>
              <a:spcBef>
                <a:spcPts val="395"/>
              </a:spcBef>
              <a:buAutoNum type="arabicPeriod"/>
              <a:tabLst>
                <a:tab pos="527050" algn="l"/>
                <a:tab pos="527685" algn="l"/>
              </a:tabLst>
            </a:pPr>
            <a:r>
              <a:rPr sz="1800" dirty="0">
                <a:latin typeface="Times New Roman" panose="02020603050405020304"/>
                <a:cs typeface="Times New Roman" panose="02020603050405020304"/>
              </a:rPr>
              <a:t>R</a:t>
            </a:r>
            <a:r>
              <a:rPr sz="1800" spc="15" dirty="0">
                <a:latin typeface="Times New Roman" panose="02020603050405020304"/>
                <a:cs typeface="Times New Roman" panose="02020603050405020304"/>
              </a:rPr>
              <a:t>e</a:t>
            </a:r>
            <a:r>
              <a:rPr sz="1800" spc="-30" dirty="0">
                <a:latin typeface="Times New Roman" panose="02020603050405020304"/>
                <a:cs typeface="Times New Roman" panose="02020603050405020304"/>
              </a:rPr>
              <a:t>s</a:t>
            </a:r>
            <a:r>
              <a:rPr sz="1800" dirty="0">
                <a:latin typeface="Times New Roman" panose="02020603050405020304"/>
                <a:cs typeface="Times New Roman" panose="02020603050405020304"/>
              </a:rPr>
              <a:t>u</a:t>
            </a:r>
            <a:r>
              <a:rPr sz="1800" spc="-55" dirty="0">
                <a:latin typeface="Times New Roman" panose="02020603050405020304"/>
                <a:cs typeface="Times New Roman" panose="02020603050405020304"/>
              </a:rPr>
              <a:t>l</a:t>
            </a:r>
            <a:r>
              <a:rPr sz="1800" spc="20" dirty="0">
                <a:latin typeface="Times New Roman" panose="02020603050405020304"/>
                <a:cs typeface="Times New Roman" panose="02020603050405020304"/>
              </a:rPr>
              <a:t>t</a:t>
            </a:r>
            <a:r>
              <a:rPr sz="1800" dirty="0">
                <a:latin typeface="Times New Roman" panose="02020603050405020304"/>
                <a:cs typeface="Times New Roman" panose="02020603050405020304"/>
              </a:rPr>
              <a:t>s</a:t>
            </a:r>
            <a:r>
              <a:rPr sz="1800" spc="4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a</a:t>
            </a:r>
            <a:r>
              <a:rPr sz="1800" dirty="0">
                <a:latin typeface="Times New Roman" panose="02020603050405020304"/>
                <a:cs typeface="Times New Roman" panose="02020603050405020304"/>
              </a:rPr>
              <a:t>nd</a:t>
            </a:r>
            <a:r>
              <a:rPr sz="1800" spc="-155" dirty="0">
                <a:latin typeface="Times New Roman" panose="02020603050405020304"/>
                <a:cs typeface="Times New Roman" panose="02020603050405020304"/>
              </a:rPr>
              <a:t> </a:t>
            </a:r>
            <a:r>
              <a:rPr sz="1800" spc="-30" dirty="0">
                <a:latin typeface="Times New Roman" panose="02020603050405020304"/>
                <a:cs typeface="Times New Roman" panose="02020603050405020304"/>
              </a:rPr>
              <a:t>A</a:t>
            </a:r>
            <a:r>
              <a:rPr sz="1800" dirty="0">
                <a:latin typeface="Times New Roman" panose="02020603050405020304"/>
                <a:cs typeface="Times New Roman" panose="02020603050405020304"/>
              </a:rPr>
              <a:t>n</a:t>
            </a:r>
            <a:r>
              <a:rPr sz="1800" spc="20" dirty="0">
                <a:latin typeface="Times New Roman" panose="02020603050405020304"/>
                <a:cs typeface="Times New Roman" panose="02020603050405020304"/>
              </a:rPr>
              <a:t>a</a:t>
            </a:r>
            <a:r>
              <a:rPr sz="1800" spc="-55" dirty="0">
                <a:latin typeface="Times New Roman" panose="02020603050405020304"/>
                <a:cs typeface="Times New Roman" panose="02020603050405020304"/>
              </a:rPr>
              <a:t>l</a:t>
            </a:r>
            <a:r>
              <a:rPr sz="1800" dirty="0">
                <a:latin typeface="Times New Roman" panose="02020603050405020304"/>
                <a:cs typeface="Times New Roman" panose="02020603050405020304"/>
              </a:rPr>
              <a:t>y</a:t>
            </a:r>
            <a:r>
              <a:rPr sz="1800" spc="-30" dirty="0">
                <a:latin typeface="Times New Roman" panose="02020603050405020304"/>
                <a:cs typeface="Times New Roman" panose="02020603050405020304"/>
              </a:rPr>
              <a:t>s</a:t>
            </a:r>
            <a:r>
              <a:rPr sz="1800" spc="-55" dirty="0">
                <a:latin typeface="Times New Roman" panose="02020603050405020304"/>
                <a:cs typeface="Times New Roman" panose="02020603050405020304"/>
              </a:rPr>
              <a:t>i</a:t>
            </a:r>
            <a:r>
              <a:rPr sz="1800" dirty="0">
                <a:latin typeface="Times New Roman" panose="02020603050405020304"/>
                <a:cs typeface="Times New Roman" panose="02020603050405020304"/>
              </a:rPr>
              <a:t>s</a:t>
            </a:r>
            <a:endParaRPr sz="1800" dirty="0">
              <a:latin typeface="Times New Roman" panose="02020603050405020304"/>
              <a:cs typeface="Times New Roman" panose="02020603050405020304"/>
            </a:endParaRPr>
          </a:p>
          <a:p>
            <a:pPr marL="527685" indent="-514985">
              <a:lnSpc>
                <a:spcPct val="100000"/>
              </a:lnSpc>
              <a:spcBef>
                <a:spcPts val="315"/>
              </a:spcBef>
              <a:buAutoNum type="arabicPeriod"/>
              <a:tabLst>
                <a:tab pos="527050" algn="l"/>
                <a:tab pos="527685" algn="l"/>
              </a:tabLst>
            </a:pPr>
            <a:r>
              <a:rPr sz="1800" spc="-15" dirty="0">
                <a:latin typeface="Times New Roman" panose="02020603050405020304"/>
                <a:cs typeface="Times New Roman" panose="02020603050405020304"/>
              </a:rPr>
              <a:t>Conclusion</a:t>
            </a:r>
            <a:r>
              <a:rPr sz="1800" spc="65" dirty="0">
                <a:latin typeface="Times New Roman" panose="02020603050405020304"/>
                <a:cs typeface="Times New Roman" panose="02020603050405020304"/>
              </a:rPr>
              <a:t> </a:t>
            </a:r>
            <a:r>
              <a:rPr sz="1800" dirty="0">
                <a:latin typeface="Times New Roman" panose="02020603050405020304"/>
                <a:cs typeface="Times New Roman" panose="02020603050405020304"/>
              </a:rPr>
              <a:t>&amp;</a:t>
            </a:r>
            <a:r>
              <a:rPr sz="1800" spc="15" dirty="0">
                <a:latin typeface="Times New Roman" panose="02020603050405020304"/>
                <a:cs typeface="Times New Roman" panose="02020603050405020304"/>
              </a:rPr>
              <a:t> </a:t>
            </a:r>
            <a:r>
              <a:rPr sz="1800" spc="-5" dirty="0">
                <a:latin typeface="Times New Roman" panose="02020603050405020304"/>
                <a:cs typeface="Times New Roman" panose="02020603050405020304"/>
              </a:rPr>
              <a:t>Future</a:t>
            </a:r>
            <a:r>
              <a:rPr sz="1800" spc="1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Scope</a:t>
            </a:r>
            <a:endParaRPr sz="1800" dirty="0">
              <a:latin typeface="Times New Roman" panose="02020603050405020304"/>
              <a:cs typeface="Times New Roman" panose="02020603050405020304"/>
            </a:endParaRPr>
          </a:p>
          <a:p>
            <a:pPr marL="527685" indent="-514985">
              <a:lnSpc>
                <a:spcPct val="100000"/>
              </a:lnSpc>
              <a:spcBef>
                <a:spcPts val="400"/>
              </a:spcBef>
              <a:buAutoNum type="arabicPeriod"/>
              <a:tabLst>
                <a:tab pos="527050" algn="l"/>
                <a:tab pos="527685" algn="l"/>
              </a:tabLst>
            </a:pPr>
            <a:r>
              <a:rPr sz="1800" spc="10" dirty="0">
                <a:latin typeface="Times New Roman" panose="02020603050405020304"/>
                <a:cs typeface="Times New Roman" panose="02020603050405020304"/>
              </a:rPr>
              <a:t>References</a:t>
            </a:r>
            <a:endParaRPr sz="1800" dirty="0">
              <a:latin typeface="Times New Roman" panose="02020603050405020304"/>
              <a:cs typeface="Times New Roman" panose="02020603050405020304"/>
            </a:endParaRPr>
          </a:p>
          <a:p>
            <a:pPr marL="527685" indent="-514985">
              <a:lnSpc>
                <a:spcPct val="100000"/>
              </a:lnSpc>
              <a:spcBef>
                <a:spcPts val="315"/>
              </a:spcBef>
              <a:buAutoNum type="arabicPeriod"/>
              <a:tabLst>
                <a:tab pos="527050" algn="l"/>
                <a:tab pos="527685" algn="l"/>
              </a:tabLst>
            </a:pPr>
            <a:r>
              <a:rPr sz="1800" spc="-30" dirty="0">
                <a:latin typeface="Times New Roman" panose="02020603050405020304"/>
                <a:cs typeface="Times New Roman" panose="02020603050405020304"/>
              </a:rPr>
              <a:t>Q</a:t>
            </a:r>
            <a:r>
              <a:rPr sz="1800" dirty="0">
                <a:latin typeface="Times New Roman" panose="02020603050405020304"/>
                <a:cs typeface="Times New Roman" panose="02020603050405020304"/>
              </a:rPr>
              <a:t>u</a:t>
            </a:r>
            <a:r>
              <a:rPr sz="1800" spc="20" dirty="0">
                <a:latin typeface="Times New Roman" panose="02020603050405020304"/>
                <a:cs typeface="Times New Roman" panose="02020603050405020304"/>
              </a:rPr>
              <a:t>e</a:t>
            </a:r>
            <a:r>
              <a:rPr sz="1800" spc="-30" dirty="0">
                <a:latin typeface="Times New Roman" panose="02020603050405020304"/>
                <a:cs typeface="Times New Roman" panose="02020603050405020304"/>
              </a:rPr>
              <a:t>s</a:t>
            </a:r>
            <a:r>
              <a:rPr sz="1800" spc="20" dirty="0">
                <a:latin typeface="Times New Roman" panose="02020603050405020304"/>
                <a:cs typeface="Times New Roman" panose="02020603050405020304"/>
              </a:rPr>
              <a:t>t</a:t>
            </a:r>
            <a:r>
              <a:rPr sz="1800" spc="-55" dirty="0">
                <a:latin typeface="Times New Roman" panose="02020603050405020304"/>
                <a:cs typeface="Times New Roman" panose="02020603050405020304"/>
              </a:rPr>
              <a:t>i</a:t>
            </a:r>
            <a:r>
              <a:rPr sz="1800" dirty="0">
                <a:latin typeface="Times New Roman" panose="02020603050405020304"/>
                <a:cs typeface="Times New Roman" panose="02020603050405020304"/>
              </a:rPr>
              <a:t>on</a:t>
            </a:r>
            <a:r>
              <a:rPr sz="1800" spc="7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a</a:t>
            </a:r>
            <a:r>
              <a:rPr sz="1800" dirty="0">
                <a:latin typeface="Times New Roman" panose="02020603050405020304"/>
                <a:cs typeface="Times New Roman" panose="02020603050405020304"/>
              </a:rPr>
              <a:t>nd</a:t>
            </a:r>
            <a:r>
              <a:rPr sz="1800" spc="-155" dirty="0">
                <a:latin typeface="Times New Roman" panose="02020603050405020304"/>
                <a:cs typeface="Times New Roman" panose="02020603050405020304"/>
              </a:rPr>
              <a:t> </a:t>
            </a:r>
            <a:r>
              <a:rPr sz="1800" spc="-30" dirty="0">
                <a:latin typeface="Times New Roman" panose="02020603050405020304"/>
                <a:cs typeface="Times New Roman" panose="02020603050405020304"/>
              </a:rPr>
              <a:t>A</a:t>
            </a:r>
            <a:r>
              <a:rPr sz="1800" dirty="0">
                <a:latin typeface="Times New Roman" panose="02020603050405020304"/>
                <a:cs typeface="Times New Roman" panose="02020603050405020304"/>
              </a:rPr>
              <a:t>n</a:t>
            </a:r>
            <a:r>
              <a:rPr sz="1800" spc="-30" dirty="0">
                <a:latin typeface="Times New Roman" panose="02020603050405020304"/>
                <a:cs typeface="Times New Roman" panose="02020603050405020304"/>
              </a:rPr>
              <a:t>sw</a:t>
            </a:r>
            <a:r>
              <a:rPr sz="1800" spc="20" dirty="0">
                <a:latin typeface="Times New Roman" panose="02020603050405020304"/>
                <a:cs typeface="Times New Roman" panose="02020603050405020304"/>
              </a:rPr>
              <a:t>e</a:t>
            </a:r>
            <a:r>
              <a:rPr sz="1800" dirty="0">
                <a:latin typeface="Times New Roman" panose="02020603050405020304"/>
                <a:cs typeface="Times New Roman" panose="02020603050405020304"/>
              </a:rPr>
              <a:t>rs</a:t>
            </a:r>
            <a:endParaRPr sz="1800" dirty="0">
              <a:latin typeface="Times New Roman" panose="02020603050405020304"/>
              <a:cs typeface="Times New Roman" panose="02020603050405020304"/>
            </a:endParaRPr>
          </a:p>
          <a:p>
            <a:pPr marL="527685" indent="-514985">
              <a:lnSpc>
                <a:spcPct val="100000"/>
              </a:lnSpc>
              <a:spcBef>
                <a:spcPts val="395"/>
              </a:spcBef>
              <a:buAutoNum type="arabicPeriod"/>
              <a:tabLst>
                <a:tab pos="527050" algn="l"/>
                <a:tab pos="527685" algn="l"/>
              </a:tabLst>
            </a:pPr>
            <a:r>
              <a:rPr sz="1800" spc="-10" dirty="0">
                <a:latin typeface="Times New Roman" panose="02020603050405020304"/>
                <a:cs typeface="Times New Roman" panose="02020603050405020304"/>
              </a:rPr>
              <a:t>Acknowledgements</a:t>
            </a:r>
            <a:endParaRPr sz="1800"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0590" y="529843"/>
            <a:ext cx="3096895" cy="701040"/>
          </a:xfrm>
          <a:prstGeom prst="rect">
            <a:avLst/>
          </a:prstGeom>
        </p:spPr>
        <p:txBody>
          <a:bodyPr vert="horz" wrap="square" lIns="0" tIns="16510" rIns="0" bIns="0" rtlCol="0">
            <a:spAutoFit/>
          </a:bodyPr>
          <a:lstStyle/>
          <a:p>
            <a:pPr marL="12700">
              <a:lnSpc>
                <a:spcPct val="100000"/>
              </a:lnSpc>
              <a:spcBef>
                <a:spcPts val="130"/>
              </a:spcBef>
            </a:pPr>
            <a:r>
              <a:rPr spc="45" dirty="0"/>
              <a:t>A</a:t>
            </a:r>
            <a:r>
              <a:rPr spc="60" dirty="0"/>
              <a:t>B</a:t>
            </a:r>
            <a:r>
              <a:rPr spc="20" dirty="0"/>
              <a:t>S</a:t>
            </a:r>
            <a:r>
              <a:rPr spc="-10" dirty="0"/>
              <a:t>T</a:t>
            </a:r>
            <a:r>
              <a:rPr spc="45" dirty="0"/>
              <a:t>RA</a:t>
            </a:r>
            <a:r>
              <a:rPr spc="-25" dirty="0"/>
              <a:t>C</a:t>
            </a:r>
            <a:r>
              <a:rPr spc="20" dirty="0"/>
              <a:t>T</a:t>
            </a:r>
            <a:endParaRPr spc="20" dirty="0"/>
          </a:p>
        </p:txBody>
      </p:sp>
      <p:sp>
        <p:nvSpPr>
          <p:cNvPr id="4" name="object 4"/>
          <p:cNvSpPr txBox="1">
            <a:spLocks noGrp="1"/>
          </p:cNvSpPr>
          <p:nvPr>
            <p:ph type="dt" sz="half" idx="6"/>
          </p:nvPr>
        </p:nvSpPr>
        <p:spPr>
          <a:xfrm>
            <a:off x="917575" y="6451049"/>
            <a:ext cx="749935" cy="361315"/>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p:txBody>
      </p:sp>
      <p:sp>
        <p:nvSpPr>
          <p:cNvPr id="5" name="object 5"/>
          <p:cNvSpPr txBox="1"/>
          <p:nvPr/>
        </p:nvSpPr>
        <p:spPr>
          <a:xfrm>
            <a:off x="4426330" y="6451049"/>
            <a:ext cx="83147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6"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5" y="1450022"/>
            <a:ext cx="10320655" cy="415242"/>
          </a:xfrm>
          <a:prstGeom prst="rect">
            <a:avLst/>
          </a:prstGeom>
        </p:spPr>
        <p:txBody>
          <a:bodyPr vert="horz" wrap="square" lIns="0" tIns="54610" rIns="0" bIns="0" rtlCol="0">
            <a:spAutoFit/>
          </a:bodyPr>
          <a:lstStyle/>
          <a:p>
            <a:pPr marL="12700" marR="5080">
              <a:lnSpc>
                <a:spcPct val="90000"/>
              </a:lnSpc>
              <a:spcBef>
                <a:spcPts val="430"/>
              </a:spcBef>
            </a:pPr>
            <a:endParaRPr sz="2600" dirty="0">
              <a:latin typeface="Calibri" panose="020F0502020204030204"/>
              <a:cs typeface="Calibri" panose="020F0502020204030204"/>
            </a:endParaRPr>
          </a:p>
        </p:txBody>
      </p:sp>
      <p:sp>
        <p:nvSpPr>
          <p:cNvPr id="10" name="TextBox 9"/>
          <p:cNvSpPr txBox="1"/>
          <p:nvPr/>
        </p:nvSpPr>
        <p:spPr>
          <a:xfrm>
            <a:off x="987425" y="1221105"/>
            <a:ext cx="10095230" cy="5060950"/>
          </a:xfrm>
          <a:prstGeom prst="rect">
            <a:avLst/>
          </a:prstGeom>
          <a:noFill/>
        </p:spPr>
        <p:txBody>
          <a:bodyPr wrap="square">
            <a:noAutofit/>
          </a:bodyPr>
          <a:lstStyle/>
          <a:p>
            <a:pPr algn="just"/>
            <a:r>
              <a:rPr lang="en-US" altLang="en-US" sz="2000" dirty="0">
                <a:latin typeface="Times New Roman" panose="02020603050405020304" pitchFamily="18" charset="0"/>
                <a:cs typeface="Times New Roman" panose="02020603050405020304" pitchFamily="18" charset="0"/>
              </a:rPr>
              <a:t>Accurate recognition of traffic signs is a foundation of contemporary autonomous driving systems, and it is an important factor in road safety, lawful driving, and informed vehicle control. However, developing high reliability in opera_x0002_tional environments is still a significant challenge. Poor weather conditions, partial occlusion by other cars or obstacles, and the small appearance of traffic signs tend to face many challenges and fail to provide consistent detection. Such issues may reduce system performance and undermine safety-critical decisions. This model introduces SignSight, a strong deep learning framework for real time perception of traffic sign and recognition frame_x0002_work to address and direct these challenges through a hybrid deep learning architecture. The approach combines conventional CNNs with Keras for initial classification complemented with a YOLOv8 detection pipeline for accurate spatial localization and real-time prediction. Compared to state-of-the-art models, SignSight includes weather-robust preprocessing methods and taps into small-object detection improvements. Taking cues from</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recent research such as YOLO-BS and MASG-Net, our approach utilizes multiscale feature learning along with context-aware mod_x0002_ules to enhance detection of small sized and blurred traffic signs.Our unified system reached a highest classification accuracy of 97.4%, with real-time performance ensured.</a:t>
            </a:r>
            <a:endParaRPr lang="en-US" alt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US"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5834" y="529843"/>
            <a:ext cx="4526915" cy="701040"/>
          </a:xfrm>
          <a:prstGeom prst="rect">
            <a:avLst/>
          </a:prstGeom>
        </p:spPr>
        <p:txBody>
          <a:bodyPr vert="horz" wrap="square" lIns="0" tIns="16510" rIns="0" bIns="0" rtlCol="0">
            <a:spAutoFit/>
          </a:bodyPr>
          <a:lstStyle/>
          <a:p>
            <a:pPr marL="12700">
              <a:lnSpc>
                <a:spcPct val="100000"/>
              </a:lnSpc>
              <a:spcBef>
                <a:spcPts val="130"/>
              </a:spcBef>
            </a:pPr>
            <a:r>
              <a:rPr spc="15" dirty="0"/>
              <a:t>INTRODUCTION</a:t>
            </a:r>
            <a:endParaRPr spc="1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19600" y="6451049"/>
            <a:ext cx="91440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615240" y="6451049"/>
            <a:ext cx="1014160"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7060120" y="643247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1013078" y="1638766"/>
            <a:ext cx="10512425" cy="4192270"/>
          </a:xfrm>
          <a:prstGeom prst="rect">
            <a:avLst/>
          </a:prstGeom>
        </p:spPr>
        <p:txBody>
          <a:bodyPr vert="horz" wrap="square" lIns="0" tIns="99060" rIns="0" bIns="0" rtlCol="0">
            <a:spAutoFit/>
          </a:bodyPr>
          <a:lstStyle/>
          <a:p>
            <a:pPr marL="241300" indent="-229235" algn="just">
              <a:lnSpc>
                <a:spcPct val="100000"/>
              </a:lnSpc>
              <a:spcBef>
                <a:spcPts val="780"/>
              </a:spcBef>
              <a:buFont typeface="Arial MT"/>
              <a:buChar char="•"/>
              <a:tabLst>
                <a:tab pos="241935" algn="l"/>
                <a:tab pos="2888615" algn="l"/>
              </a:tabLst>
            </a:pPr>
            <a:r>
              <a:rPr lang="en-US" altLang="en-US" sz="2400" dirty="0">
                <a:latin typeface="Times New Roman" panose="02020603050405020304"/>
                <a:cs typeface="Times New Roman" panose="02020603050405020304"/>
              </a:rPr>
              <a:t>Traffic sign detection and recognition are essential for autonomous driving and road safety.</a:t>
            </a:r>
            <a:endParaRPr lang="en-US" altLang="en-US" sz="2400" dirty="0">
              <a:latin typeface="Times New Roman" panose="02020603050405020304"/>
              <a:cs typeface="Times New Roman" panose="02020603050405020304"/>
            </a:endParaRPr>
          </a:p>
          <a:p>
            <a:pPr marL="241300" indent="-229235" algn="just">
              <a:lnSpc>
                <a:spcPct val="100000"/>
              </a:lnSpc>
              <a:spcBef>
                <a:spcPts val="780"/>
              </a:spcBef>
              <a:buFont typeface="Arial MT"/>
              <a:buChar char="•"/>
              <a:tabLst>
                <a:tab pos="241935" algn="l"/>
                <a:tab pos="2888615" algn="l"/>
              </a:tabLst>
            </a:pPr>
            <a:r>
              <a:rPr lang="en-US" altLang="en-US" sz="2400" dirty="0">
                <a:latin typeface="Times New Roman" panose="02020603050405020304"/>
                <a:cs typeface="Times New Roman" panose="02020603050405020304"/>
              </a:rPr>
              <a:t>Real-world challenges such as rain, fog, occlusion, and poor lighting reduce the accuracy of traditional models.</a:t>
            </a:r>
            <a:endParaRPr lang="en-US" altLang="en-US" sz="2400" dirty="0">
              <a:latin typeface="Times New Roman" panose="02020603050405020304"/>
              <a:cs typeface="Times New Roman" panose="02020603050405020304"/>
            </a:endParaRPr>
          </a:p>
          <a:p>
            <a:pPr marL="241300" indent="-229235" algn="just">
              <a:lnSpc>
                <a:spcPct val="100000"/>
              </a:lnSpc>
              <a:spcBef>
                <a:spcPts val="780"/>
              </a:spcBef>
              <a:buFont typeface="Arial MT"/>
              <a:buChar char="•"/>
              <a:tabLst>
                <a:tab pos="241935" algn="l"/>
                <a:tab pos="2888615" algn="l"/>
              </a:tabLst>
            </a:pPr>
            <a:r>
              <a:rPr lang="en-US" altLang="en-US" sz="2400" dirty="0">
                <a:latin typeface="Times New Roman" panose="02020603050405020304"/>
                <a:cs typeface="Times New Roman" panose="02020603050405020304"/>
              </a:rPr>
              <a:t>Existing systems often perform well on datasets but fail to generalize in dynamic environments and with small or blurred signs.</a:t>
            </a:r>
            <a:endParaRPr lang="en-US" altLang="en-US" sz="2400" dirty="0">
              <a:latin typeface="Times New Roman" panose="02020603050405020304"/>
              <a:cs typeface="Times New Roman" panose="02020603050405020304"/>
            </a:endParaRPr>
          </a:p>
          <a:p>
            <a:pPr marL="241300" indent="-229235" algn="just">
              <a:lnSpc>
                <a:spcPct val="100000"/>
              </a:lnSpc>
              <a:spcBef>
                <a:spcPts val="780"/>
              </a:spcBef>
              <a:buFont typeface="Arial MT"/>
              <a:buChar char="•"/>
              <a:tabLst>
                <a:tab pos="241935" algn="l"/>
                <a:tab pos="2888615" algn="l"/>
              </a:tabLst>
            </a:pPr>
            <a:r>
              <a:rPr lang="en-US" altLang="en-US" sz="2400" dirty="0">
                <a:latin typeface="Times New Roman" panose="02020603050405020304"/>
                <a:cs typeface="Times New Roman" panose="02020603050405020304"/>
              </a:rPr>
              <a:t>To address this, SignSight combines YOLOv8 for fast detection and a CNN for accurate classification.</a:t>
            </a:r>
            <a:endParaRPr lang="en-US" altLang="en-US" sz="2400" dirty="0">
              <a:latin typeface="Times New Roman" panose="02020603050405020304"/>
              <a:cs typeface="Times New Roman" panose="02020603050405020304"/>
            </a:endParaRPr>
          </a:p>
          <a:p>
            <a:pPr marL="241300" indent="-229235" algn="just">
              <a:lnSpc>
                <a:spcPct val="100000"/>
              </a:lnSpc>
              <a:spcBef>
                <a:spcPts val="780"/>
              </a:spcBef>
              <a:buFont typeface="Arial MT"/>
              <a:buChar char="•"/>
              <a:tabLst>
                <a:tab pos="241935" algn="l"/>
                <a:tab pos="2888615" algn="l"/>
              </a:tabLst>
            </a:pPr>
            <a:r>
              <a:rPr lang="en-US" altLang="en-US" sz="2400" dirty="0">
                <a:latin typeface="Times New Roman" panose="02020603050405020304"/>
                <a:cs typeface="Times New Roman" panose="02020603050405020304"/>
              </a:rPr>
              <a:t>The hybrid design improves robustness, real-time performance, and reliability for intelligent transportation systems.</a:t>
            </a:r>
            <a:endParaRPr lang="en-US" altLang="en-US" sz="2400" dirty="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2445" y="529843"/>
            <a:ext cx="6442075" cy="701040"/>
          </a:xfrm>
          <a:prstGeom prst="rect">
            <a:avLst/>
          </a:prstGeom>
        </p:spPr>
        <p:txBody>
          <a:bodyPr vert="horz" wrap="square" lIns="0" tIns="16510" rIns="0" bIns="0" rtlCol="0">
            <a:spAutoFit/>
          </a:bodyPr>
          <a:lstStyle/>
          <a:p>
            <a:pPr marL="12700">
              <a:lnSpc>
                <a:spcPct val="100000"/>
              </a:lnSpc>
              <a:spcBef>
                <a:spcPts val="130"/>
              </a:spcBef>
            </a:pPr>
            <a:r>
              <a:rPr spc="20" dirty="0"/>
              <a:t>PROBLEM</a:t>
            </a:r>
            <a:r>
              <a:rPr spc="-240" dirty="0"/>
              <a:t> </a:t>
            </a:r>
            <a:r>
              <a:rPr spc="-55" dirty="0"/>
              <a:t>STATEMENT</a:t>
            </a:r>
            <a:endParaRPr spc="-5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30" y="6451049"/>
            <a:ext cx="90767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5"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6794881"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10" name="TextBox 9"/>
          <p:cNvSpPr txBox="1"/>
          <p:nvPr/>
        </p:nvSpPr>
        <p:spPr>
          <a:xfrm>
            <a:off x="1106085" y="2090172"/>
            <a:ext cx="9908858" cy="3046095"/>
          </a:xfrm>
          <a:prstGeom prst="rect">
            <a:avLst/>
          </a:prstGeom>
          <a:noFill/>
        </p:spPr>
        <p:txBody>
          <a:bodyPr wrap="square">
            <a:spAutoFit/>
          </a:bodyPr>
          <a:lstStyle/>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Many standalone CNN or YOLO models perform well on clean datasets but fail in complex, real-time driving environments.</a:t>
            </a: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There is a need for a reliable system that can both detect and classify traffic signs accurately under adverse conditions.</a:t>
            </a: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problem is to develop a robust, real-time, and weather-tolerant traffic sign recognition framework suitable for autonomous vehicles.</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0026" y="283463"/>
            <a:ext cx="5518785" cy="632460"/>
          </a:xfrm>
          <a:prstGeom prst="rect">
            <a:avLst/>
          </a:prstGeom>
        </p:spPr>
        <p:txBody>
          <a:bodyPr vert="horz" wrap="square" lIns="0" tIns="16510" rIns="0" bIns="0" rtlCol="0">
            <a:spAutoFit/>
          </a:bodyPr>
          <a:lstStyle/>
          <a:p>
            <a:pPr marL="12700">
              <a:lnSpc>
                <a:spcPct val="100000"/>
              </a:lnSpc>
              <a:spcBef>
                <a:spcPts val="130"/>
              </a:spcBef>
            </a:pPr>
            <a:r>
              <a:rPr sz="3950" spc="-30" dirty="0"/>
              <a:t>LITERATURE</a:t>
            </a:r>
            <a:r>
              <a:rPr sz="3950" spc="250" dirty="0"/>
              <a:t> </a:t>
            </a:r>
            <a:r>
              <a:rPr sz="3950" spc="-30" dirty="0"/>
              <a:t>SURVEY</a:t>
            </a:r>
            <a:endParaRPr sz="395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30" y="6451049"/>
            <a:ext cx="90767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altLang="en-IN" sz="1200" spc="5" dirty="0">
                <a:solidFill>
                  <a:srgbClr val="888888"/>
                </a:solidFill>
                <a:latin typeface="Times New Roman" panose="02020603050405020304"/>
                <a:cs typeface="Times New Roman" panose="02020603050405020304"/>
              </a:rPr>
              <a:t>2</a:t>
            </a:r>
            <a:endParaRPr lang="en-US" altLang="en-IN"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5"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graphicFrame>
        <p:nvGraphicFramePr>
          <p:cNvPr id="12" name="Table 3"/>
          <p:cNvGraphicFramePr>
            <a:graphicFrameLocks noGrp="1"/>
          </p:cNvGraphicFramePr>
          <p:nvPr>
            <p:custDataLst>
              <p:tags r:id="rId1"/>
            </p:custDataLst>
          </p:nvPr>
        </p:nvGraphicFramePr>
        <p:xfrm>
          <a:off x="533400" y="1080770"/>
          <a:ext cx="10820400" cy="4838700"/>
        </p:xfrm>
        <a:graphic>
          <a:graphicData uri="http://schemas.openxmlformats.org/drawingml/2006/table">
            <a:tbl>
              <a:tblPr firstRow="1" bandRow="1"/>
              <a:tblGrid>
                <a:gridCol w="608330"/>
                <a:gridCol w="1943100"/>
                <a:gridCol w="1619885"/>
                <a:gridCol w="1670685"/>
                <a:gridCol w="1886585"/>
                <a:gridCol w="1546225"/>
                <a:gridCol w="1545590"/>
              </a:tblGrid>
              <a:tr h="684530">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No</a:t>
                      </a:r>
                      <a:endParaRPr lang="en-US"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Title</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Author</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Journal Name &amp; Year</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Methodology Adapted</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Key Findings </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Gaps</a:t>
                      </a:r>
                      <a:endParaRPr lang="en-US" sz="1600">
                        <a:solidFill>
                          <a:schemeClr val="tx1"/>
                        </a:solidFill>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r>
              <a:tr h="1038860">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sz="1400">
                          <a:latin typeface="Times New Roman" panose="02020603050405020304" pitchFamily="18" charset="0"/>
                          <a:cs typeface="Times New Roman" panose="02020603050405020304" pitchFamily="18" charset="0"/>
                        </a:rPr>
                        <a:t>1</a:t>
                      </a:r>
                      <a:endParaRPr lang="en-US" sz="140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fontAlgn="ctr"/>
                      <a:r>
                        <a:rPr sz="1100" b="0" i="0">
                          <a:solidFill>
                            <a:srgbClr val="000000"/>
                          </a:solidFill>
                          <a:latin typeface="Calibri" panose="020F0502020204030204"/>
                          <a:ea typeface="Calibri" panose="020F0502020204030204"/>
                        </a:rPr>
                        <a:t>A Review of YOLO Algorithm and Its Applications in Autonomous Driving Object Detection</a:t>
                      </a:r>
                      <a:endParaRPr sz="1100" b="0" i="0">
                        <a:solidFill>
                          <a:srgbClr val="000000"/>
                        </a:solidFill>
                        <a:latin typeface="Calibri" panose="020F0502020204030204"/>
                        <a:ea typeface="Calibri" panose="020F0502020204030204"/>
                      </a:endParaRPr>
                    </a:p>
                  </a:txBody>
                  <a:tcPr marL="9842" marR="9842" marT="9842" marB="0" anchor="ctr" anchorCtr="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mj-lt"/>
                          <a:cs typeface="+mj-lt"/>
                        </a:rPr>
                        <a:t>J. Wei, A. A. Azizan, K. A. M. Rezali, M. Z. M. Yusoff, and H. Ma</a:t>
                      </a:r>
                      <a:endParaRPr lang="en-US" altLang="en-US" sz="1100" dirty="0">
                        <a:latin typeface="+mj-lt"/>
                        <a:cs typeface="+mj-lt"/>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altLang="en-US" sz="1100" dirty="0">
                          <a:latin typeface="Times New Roman" panose="02020603050405020304" pitchFamily="18" charset="0"/>
                          <a:cs typeface="Times New Roman" panose="02020603050405020304" pitchFamily="18" charset="0"/>
                        </a:rPr>
                        <a:t>https://ieeexplore.ieee.org/document/11015428 &amp; 2025</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YOLOv1–YOLOv12, </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YOLO-MR</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YOLO has evolved from v1 to v12 with higher accuracy and faster FPS, achieving real-time performance</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Small-object detection</a:t>
                      </a:r>
                      <a:endParaRPr lang="en-US" altLang="en-US" sz="1100" dirty="0">
                        <a:latin typeface="Times New Roman" panose="02020603050405020304" pitchFamily="18" charset="0"/>
                        <a:cs typeface="Times New Roman" panose="02020603050405020304" pitchFamily="18" charset="0"/>
                      </a:endParaRPr>
                    </a:p>
                    <a:p>
                      <a:pPr algn="ct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Occlusion handling</a:t>
                      </a:r>
                      <a:endParaRPr lang="en-US" altLang="en-US" sz="1100" dirty="0">
                        <a:latin typeface="Times New Roman" panose="02020603050405020304" pitchFamily="18" charset="0"/>
                        <a:cs typeface="Times New Roman" panose="02020603050405020304" pitchFamily="18" charset="0"/>
                      </a:endParaRPr>
                    </a:p>
                    <a:p>
                      <a:pPr algn="ct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Multi-scale detection</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1225550">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sz="1400">
                          <a:latin typeface="Times New Roman" panose="02020603050405020304" pitchFamily="18" charset="0"/>
                          <a:cs typeface="Times New Roman" panose="02020603050405020304" pitchFamily="18" charset="0"/>
                        </a:rPr>
                        <a:t>2</a:t>
                      </a:r>
                      <a:endParaRPr lang="en-US" sz="140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fontAlgn="ctr"/>
                      <a:r>
                        <a:rPr sz="1100" b="0" i="0">
                          <a:solidFill>
                            <a:srgbClr val="000000"/>
                          </a:solidFill>
                          <a:latin typeface="Calibri" panose="020F0502020204030204"/>
                          <a:ea typeface="Calibri" panose="020F0502020204030204"/>
                        </a:rPr>
                        <a:t>Rectifying Adversarial Examples Using Their Vulnerabilities</a:t>
                      </a:r>
                      <a:endParaRPr sz="1100" b="0" i="0">
                        <a:solidFill>
                          <a:srgbClr val="000000"/>
                        </a:solidFill>
                        <a:latin typeface="Calibri" panose="020F0502020204030204"/>
                        <a:ea typeface="Calibri" panose="020F0502020204030204"/>
                      </a:endParaRPr>
                    </a:p>
                  </a:txBody>
                  <a:tcPr marL="9842" marR="9842" marT="9842" marB="0" anchor="ctr" anchorCtr="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F. Morimoto, R. Morita, and S. Ono</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https://ieeexplore.ieee.org/document/10918972 &amp; 2025</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Input Transformations,</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Gradient-Based Filtering, </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Adversarial Example (AE) Classification</a:t>
                      </a:r>
                      <a:endParaRPr lang="en-US" altLang="en-US" sz="1100" dirty="0">
                        <a:latin typeface="Times New Roman" panose="02020603050405020304" pitchFamily="18" charset="0"/>
                        <a:cs typeface="Times New Roman" panose="02020603050405020304" pitchFamily="18" charset="0"/>
                      </a:endParaRPr>
                    </a:p>
                    <a:p>
                      <a:pPr algn="ctr"/>
                      <a:endParaRPr lang="en-US" altLang="en-US" sz="1100" dirty="0">
                        <a:latin typeface="Times New Roman" panose="02020603050405020304" pitchFamily="18" charset="0"/>
                        <a:cs typeface="Times New Roman" panose="02020603050405020304" pitchFamily="18" charset="0"/>
                      </a:endParaRPr>
                    </a:p>
                    <a:p>
                      <a:pPr algn="ct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High Rectification Rate,</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Attack-Agnostic Effectiveness and</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Superior Performance</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Vulnerability to Deep Targeted Attacks,</a:t>
                      </a:r>
                      <a:endParaRPr lang="en-US" altLang="en-US" sz="1100" dirty="0">
                        <a:latin typeface="Times New Roman" panose="02020603050405020304" pitchFamily="18" charset="0"/>
                        <a:cs typeface="Times New Roman" panose="02020603050405020304" pitchFamily="18" charset="0"/>
                      </a:endParaRPr>
                    </a:p>
                    <a:p>
                      <a:pPr algn="ctr"/>
                      <a:r>
                        <a:rPr lang="en-US" altLang="en-US" sz="1100" dirty="0">
                          <a:latin typeface="Times New Roman" panose="02020603050405020304" pitchFamily="18" charset="0"/>
                          <a:cs typeface="Times New Roman" panose="02020603050405020304" pitchFamily="18" charset="0"/>
                        </a:rPr>
                        <a:t>Parameter Tuning Challenges and Limited Modality Generalization</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851535">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sz="1400">
                          <a:latin typeface="Times New Roman" panose="02020603050405020304" pitchFamily="18" charset="0"/>
                          <a:cs typeface="Times New Roman" panose="02020603050405020304" pitchFamily="18" charset="0"/>
                        </a:rPr>
                        <a:t>3</a:t>
                      </a:r>
                      <a:endParaRPr lang="en-US" sz="140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fontAlgn="ctr"/>
                      <a:r>
                        <a:rPr sz="1100" b="0" i="0">
                          <a:solidFill>
                            <a:srgbClr val="000000"/>
                          </a:solidFill>
                          <a:latin typeface="Calibri" panose="020F0502020204030204"/>
                          <a:ea typeface="Calibri" panose="020F0502020204030204"/>
                        </a:rPr>
                        <a:t>Grounding DINO and distillation-enhanced model for advanced traffic sign detection and classification in autonomous vehicles</a:t>
                      </a:r>
                      <a:endParaRPr sz="1100" b="0" i="0">
                        <a:solidFill>
                          <a:srgbClr val="000000"/>
                        </a:solidFill>
                        <a:latin typeface="Calibri" panose="020F0502020204030204"/>
                        <a:ea typeface="Calibri" panose="020F0502020204030204"/>
                      </a:endParaRPr>
                    </a:p>
                  </a:txBody>
                  <a:tcPr marL="9842" marR="9842" marT="9842" marB="0" anchor="ctr" anchorCtr="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H. N. Tran, N. N. N. Nguyen, N. Q. P. Le, and A. D. Nguyen</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http://sciencedirect.com/science/article/pii/S2215098625000837 &amp; 2025</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Caption-Text Pairing, Image Caption Fusion and Grounding with DINO &amp; Transformer Distillation</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Efficient Model Design, High Detection Performance </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Performance on Small or Occluded Signs and Adverse Environmental Conditions</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r h="1038225">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sz="1400">
                          <a:latin typeface="Times New Roman" panose="02020603050405020304" pitchFamily="18" charset="0"/>
                          <a:cs typeface="Times New Roman" panose="02020603050405020304" pitchFamily="18" charset="0"/>
                        </a:rPr>
                        <a:t>4</a:t>
                      </a:r>
                      <a:endParaRPr lang="en-US" sz="140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fontAlgn="ctr"/>
                      <a:r>
                        <a:rPr sz="1100" b="0" i="0">
                          <a:solidFill>
                            <a:srgbClr val="000000"/>
                          </a:solidFill>
                          <a:latin typeface="Calibri" panose="020F0502020204030204"/>
                          <a:ea typeface="Calibri" panose="020F0502020204030204"/>
                        </a:rPr>
                        <a:t>The Bangladesh road traffic sign dataset in real-world images for traffic sign recognition</a:t>
                      </a:r>
                      <a:endParaRPr sz="1100" b="0" i="0">
                        <a:solidFill>
                          <a:srgbClr val="000000"/>
                        </a:solidFill>
                        <a:latin typeface="Calibri" panose="020F0502020204030204"/>
                        <a:ea typeface="Calibri" panose="020F0502020204030204"/>
                      </a:endParaRPr>
                    </a:p>
                  </a:txBody>
                  <a:tcPr marL="9842" marR="9842" marT="9842" marB="0" anchor="ctr" anchorCtr="0">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altLang="en-US" sz="1100" dirty="0">
                          <a:latin typeface="Times New Roman" panose="02020603050405020304" pitchFamily="18" charset="0"/>
                          <a:cs typeface="Times New Roman" panose="02020603050405020304" pitchFamily="18" charset="0"/>
                        </a:rPr>
                        <a:t>A. Islam and D. M. Farid</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https://www.sciencedirect.com/science/article/pii/S2352340925002550 &amp; 2025</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Data Preparation, Data Augmentation and Model Selection</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Real-World Representation and Diverse Environmental Conditions</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altLang="en-US" sz="1100" dirty="0">
                          <a:latin typeface="Times New Roman" panose="02020603050405020304" pitchFamily="18" charset="0"/>
                          <a:cs typeface="Times New Roman" panose="02020603050405020304" pitchFamily="18" charset="0"/>
                        </a:rPr>
                        <a:t>Limited Geographic Coverage and Insufficient Sign Variants</a:t>
                      </a:r>
                      <a:endParaRPr lang="en-US" alt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4751" y="529843"/>
            <a:ext cx="6117590" cy="701040"/>
          </a:xfrm>
          <a:prstGeom prst="rect">
            <a:avLst/>
          </a:prstGeom>
        </p:spPr>
        <p:txBody>
          <a:bodyPr vert="horz" wrap="square" lIns="0" tIns="16510" rIns="0" bIns="0" rtlCol="0">
            <a:spAutoFit/>
          </a:bodyPr>
          <a:lstStyle/>
          <a:p>
            <a:pPr marL="12700">
              <a:lnSpc>
                <a:spcPct val="100000"/>
              </a:lnSpc>
              <a:spcBef>
                <a:spcPts val="130"/>
              </a:spcBef>
            </a:pPr>
            <a:r>
              <a:rPr spc="-15" dirty="0"/>
              <a:t>L</a:t>
            </a:r>
            <a:r>
              <a:rPr spc="10" dirty="0"/>
              <a:t>I</a:t>
            </a:r>
            <a:r>
              <a:rPr spc="-15" dirty="0"/>
              <a:t>TE</a:t>
            </a:r>
            <a:r>
              <a:rPr spc="45" dirty="0"/>
              <a:t>R</a:t>
            </a:r>
            <a:r>
              <a:rPr spc="-254" dirty="0"/>
              <a:t>A</a:t>
            </a:r>
            <a:r>
              <a:rPr spc="-15" dirty="0"/>
              <a:t>T</a:t>
            </a:r>
            <a:r>
              <a:rPr spc="45" dirty="0"/>
              <a:t>UR</a:t>
            </a:r>
            <a:r>
              <a:rPr spc="20" dirty="0"/>
              <a:t>E</a:t>
            </a:r>
            <a:r>
              <a:rPr spc="-235" dirty="0"/>
              <a:t> </a:t>
            </a:r>
            <a:r>
              <a:rPr spc="15" dirty="0"/>
              <a:t>S</a:t>
            </a:r>
            <a:r>
              <a:rPr spc="55" dirty="0"/>
              <a:t>U</a:t>
            </a:r>
            <a:r>
              <a:rPr spc="-100" dirty="0"/>
              <a:t>R</a:t>
            </a:r>
            <a:r>
              <a:rPr spc="45" dirty="0"/>
              <a:t>V</a:t>
            </a:r>
            <a:r>
              <a:rPr spc="-15" dirty="0"/>
              <a:t>E</a:t>
            </a:r>
            <a:r>
              <a:rPr spc="20" dirty="0"/>
              <a:t>Y</a:t>
            </a:r>
            <a:endParaRPr spc="20"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114800" y="6451049"/>
            <a:ext cx="10697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184520" y="6451049"/>
            <a:ext cx="961862"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763587" y="1666017"/>
            <a:ext cx="10664825" cy="3573780"/>
          </a:xfrm>
          <a:prstGeom prst="rect">
            <a:avLst/>
          </a:prstGeom>
        </p:spPr>
        <p:txBody>
          <a:bodyPr vert="horz" wrap="square" lIns="0" tIns="98425" rIns="0" bIns="0" rtlCol="0">
            <a:spAutoFit/>
          </a:bodyPr>
          <a:lstStyle/>
          <a:p>
            <a:pPr marL="241300" indent="-229235" algn="just">
              <a:lnSpc>
                <a:spcPct val="100000"/>
              </a:lnSpc>
              <a:spcBef>
                <a:spcPts val="775"/>
              </a:spcBef>
              <a:buFont typeface="Arial MT"/>
              <a:buChar char="•"/>
              <a:tabLst>
                <a:tab pos="241935" algn="l"/>
              </a:tabLst>
            </a:pPr>
            <a:r>
              <a:rPr lang="en-US" altLang="en-US" sz="2000" dirty="0">
                <a:latin typeface="Times New Roman" panose="02020603050405020304" pitchFamily="18" charset="0"/>
                <a:cs typeface="Times New Roman" panose="02020603050405020304" pitchFamily="18" charset="0"/>
              </a:rPr>
              <a:t>Qiu et al. (2025) proposed a lightweight DP-YOLO model for detecting small traffic signs, achieving good speed and accuracy; however, performance reduced in cluttered and low-visibility environments.</a:t>
            </a:r>
            <a:endParaRPr lang="en-US" altLang="en-US" sz="2000" dirty="0">
              <a:latin typeface="Times New Roman" panose="02020603050405020304" pitchFamily="18" charset="0"/>
              <a:cs typeface="Times New Roman" panose="02020603050405020304" pitchFamily="18" charset="0"/>
            </a:endParaRPr>
          </a:p>
          <a:p>
            <a:pPr marL="241300" indent="-229235" algn="just">
              <a:lnSpc>
                <a:spcPct val="100000"/>
              </a:lnSpc>
              <a:spcBef>
                <a:spcPts val="775"/>
              </a:spcBef>
              <a:buFont typeface="Arial MT"/>
              <a:buChar char="•"/>
              <a:tabLst>
                <a:tab pos="241935" algn="l"/>
              </a:tabLst>
            </a:pPr>
            <a:r>
              <a:rPr lang="en-US" altLang="en-US" sz="2000" dirty="0">
                <a:latin typeface="Times New Roman" panose="02020603050405020304" pitchFamily="18" charset="0"/>
                <a:cs typeface="Times New Roman" panose="02020603050405020304" pitchFamily="18" charset="0"/>
              </a:rPr>
              <a:t>Zhang et al. (2025) introduced YOLO-BS with BiFPN to improve small-object detection, but their work focused only on detection and lacked fine-grained classification.</a:t>
            </a:r>
            <a:endParaRPr lang="en-US" altLang="en-US" sz="2000" dirty="0">
              <a:latin typeface="Times New Roman" panose="02020603050405020304" pitchFamily="18" charset="0"/>
              <a:cs typeface="Times New Roman" panose="02020603050405020304" pitchFamily="18" charset="0"/>
            </a:endParaRPr>
          </a:p>
          <a:p>
            <a:pPr marL="241300" indent="-229235" algn="just">
              <a:lnSpc>
                <a:spcPct val="100000"/>
              </a:lnSpc>
              <a:spcBef>
                <a:spcPts val="775"/>
              </a:spcBef>
              <a:buFont typeface="Arial MT"/>
              <a:buChar char="•"/>
              <a:tabLst>
                <a:tab pos="241935" algn="l"/>
              </a:tabLst>
            </a:pPr>
            <a:r>
              <a:rPr lang="en-US" altLang="en-US" sz="2000" dirty="0">
                <a:latin typeface="Times New Roman" panose="02020603050405020304" pitchFamily="18" charset="0"/>
                <a:cs typeface="Times New Roman" panose="02020603050405020304" pitchFamily="18" charset="0"/>
              </a:rPr>
              <a:t>Tran et al. (2025) combined Grounding DINO with knowledge distillation to enhance traffic sign detection, though results showed difficulty in distinguishing visually similar sign classes.</a:t>
            </a:r>
            <a:endParaRPr lang="en-US" altLang="en-US" sz="2000" dirty="0">
              <a:latin typeface="Times New Roman" panose="02020603050405020304" pitchFamily="18" charset="0"/>
              <a:cs typeface="Times New Roman" panose="02020603050405020304" pitchFamily="18" charset="0"/>
            </a:endParaRPr>
          </a:p>
          <a:p>
            <a:pPr marL="241300" indent="-229235" algn="just">
              <a:lnSpc>
                <a:spcPct val="100000"/>
              </a:lnSpc>
              <a:spcBef>
                <a:spcPts val="775"/>
              </a:spcBef>
              <a:buFont typeface="Arial MT"/>
              <a:buChar char="•"/>
              <a:tabLst>
                <a:tab pos="241935" algn="l"/>
              </a:tabLst>
            </a:pPr>
            <a:r>
              <a:rPr lang="en-US" altLang="en-US" sz="2000" dirty="0">
                <a:latin typeface="Times New Roman" panose="02020603050405020304" pitchFamily="18" charset="0"/>
                <a:cs typeface="Times New Roman" panose="02020603050405020304" pitchFamily="18" charset="0"/>
              </a:rPr>
              <a:t>Megalingam et al. (2025) developed a CNN-based Indian traffic sign recognition system suitable for real-time use, but their approach struggled under adverse weather and occlusion conditions.</a:t>
            </a:r>
            <a:endParaRPr lang="en-US" altLang="en-US" sz="2000" dirty="0">
              <a:latin typeface="Times New Roman" panose="02020603050405020304" pitchFamily="18" charset="0"/>
              <a:cs typeface="Times New Roman" panose="02020603050405020304" pitchFamily="18" charset="0"/>
            </a:endParaRPr>
          </a:p>
          <a:p>
            <a:pPr marL="241300" indent="-229235" algn="just">
              <a:lnSpc>
                <a:spcPct val="100000"/>
              </a:lnSpc>
              <a:spcBef>
                <a:spcPts val="775"/>
              </a:spcBef>
              <a:buFont typeface="Arial MT"/>
              <a:buChar char="•"/>
              <a:tabLst>
                <a:tab pos="241935" algn="l"/>
              </a:tabLst>
            </a:pPr>
            <a:r>
              <a:rPr lang="en-US" altLang="en-US" sz="2000" dirty="0">
                <a:latin typeface="Times New Roman" panose="02020603050405020304" pitchFamily="18" charset="0"/>
                <a:cs typeface="Times New Roman" panose="02020603050405020304" pitchFamily="18" charset="0"/>
              </a:rPr>
              <a:t>Du et al. (2025) proposed MASG-Net, a lightweight multi-scale network that improved traffic sign detection accuracy and speed, but still showed limitations under harsh lighting and heavy occlusions.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1754" y="529843"/>
            <a:ext cx="4769485"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10" dirty="0"/>
              <a:t>E</a:t>
            </a:r>
            <a:r>
              <a:rPr spc="45" dirty="0"/>
              <a:t>ARC</a:t>
            </a:r>
            <a:r>
              <a:rPr spc="20" dirty="0"/>
              <a:t>H</a:t>
            </a:r>
            <a:r>
              <a:rPr spc="-195" dirty="0"/>
              <a:t> </a:t>
            </a:r>
            <a:r>
              <a:rPr spc="-55" dirty="0"/>
              <a:t>G</a:t>
            </a:r>
            <a:r>
              <a:rPr spc="45" dirty="0"/>
              <a:t>A</a:t>
            </a:r>
            <a:r>
              <a:rPr spc="15" dirty="0"/>
              <a:t>PS</a:t>
            </a:r>
            <a:endParaRPr spc="1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3881754" y="6451049"/>
            <a:ext cx="1302766"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2" y="6451049"/>
            <a:ext cx="984668"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5" y="1730872"/>
            <a:ext cx="9979026" cy="4161790"/>
          </a:xfrm>
          <a:prstGeom prst="rect">
            <a:avLst/>
          </a:prstGeom>
        </p:spPr>
        <p:txBody>
          <a:bodyPr vert="horz" wrap="square" lIns="0" tIns="99060" rIns="0" bIns="0" rtlCol="0">
            <a:spAutoFit/>
          </a:bodyPr>
          <a:lstStyle/>
          <a:p>
            <a:pPr marL="342900" indent="-342900" algn="just">
              <a:buClr>
                <a:schemeClr val="tx1"/>
              </a:buClr>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Most existing methods focus only on detection or classification separately, lacking an integrated end-to-end system that performs both with high accuracy.</a:t>
            </a: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Small traffic sign detection remains unreliable, especially in cluttered scenes and from long distances.</a:t>
            </a: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Many models underperform in adverse weather conditions such as rain, fog, low light, and occlusion.</a:t>
            </a: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Several high-accuracy approaches have high computational complexity, making them unsuitable for real-time deployment on low-power edge devices.</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940" y="529843"/>
            <a:ext cx="3594735" cy="701040"/>
          </a:xfrm>
          <a:prstGeom prst="rect">
            <a:avLst/>
          </a:prstGeom>
        </p:spPr>
        <p:txBody>
          <a:bodyPr vert="horz" wrap="square" lIns="0" tIns="16510" rIns="0" bIns="0" rtlCol="0">
            <a:spAutoFit/>
          </a:bodyPr>
          <a:lstStyle/>
          <a:p>
            <a:pPr marL="12700">
              <a:lnSpc>
                <a:spcPct val="100000"/>
              </a:lnSpc>
              <a:spcBef>
                <a:spcPts val="130"/>
              </a:spcBef>
            </a:pPr>
            <a:r>
              <a:rPr spc="20" dirty="0"/>
              <a:t>O</a:t>
            </a:r>
            <a:r>
              <a:rPr spc="65" dirty="0"/>
              <a:t>B</a:t>
            </a:r>
            <a:r>
              <a:rPr spc="45" dirty="0"/>
              <a:t>J</a:t>
            </a:r>
            <a:r>
              <a:rPr spc="-15" dirty="0"/>
              <a:t>E</a:t>
            </a:r>
            <a:r>
              <a:rPr spc="45" dirty="0"/>
              <a:t>C</a:t>
            </a:r>
            <a:r>
              <a:rPr spc="-15" dirty="0"/>
              <a:t>T</a:t>
            </a:r>
            <a:r>
              <a:rPr spc="10" dirty="0"/>
              <a:t>I</a:t>
            </a:r>
            <a:r>
              <a:rPr spc="45" dirty="0"/>
              <a:t>V</a:t>
            </a:r>
            <a:r>
              <a:rPr spc="-15" dirty="0"/>
              <a:t>E</a:t>
            </a:r>
            <a:r>
              <a:rPr spc="15" dirty="0"/>
              <a:t>S</a:t>
            </a:r>
            <a:endParaRPr spc="1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30" y="6451049"/>
            <a:ext cx="98387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2" y="6451049"/>
            <a:ext cx="983870"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609600" y="1295400"/>
            <a:ext cx="11198225" cy="4710430"/>
          </a:xfrm>
          <a:prstGeom prst="rect">
            <a:avLst/>
          </a:prstGeom>
        </p:spPr>
        <p:txBody>
          <a:bodyPr vert="horz" wrap="square" lIns="0" tIns="99060" rIns="0" bIns="0" rtlCol="0">
            <a:noAutofit/>
          </a:bodyPr>
          <a:lstStyle/>
          <a:p>
            <a:pPr marL="342900" indent="-342900">
              <a:buFont typeface="Arial" panose="020B0604020202020204" pitchFamily="34" charset="0"/>
              <a:buChar char="•"/>
            </a:pPr>
            <a:r>
              <a:rPr lang="en-US" altLang="en-US" sz="2400" b="0" i="0" dirty="0">
                <a:solidFill>
                  <a:srgbClr val="0D0D0D"/>
                </a:solidFill>
                <a:effectLst/>
                <a:latin typeface="Times New Roman" panose="02020603050405020304" pitchFamily="18" charset="0"/>
                <a:cs typeface="Times New Roman" panose="02020603050405020304" pitchFamily="18" charset="0"/>
              </a:rPr>
              <a:t>To develop a hybrid CNN–YOLOv8 framework that performs both real-time detection and fine-grained classification of traffic signs in a single pipeline.</a:t>
            </a: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0" i="0" dirty="0">
                <a:solidFill>
                  <a:srgbClr val="0D0D0D"/>
                </a:solidFill>
                <a:effectLst/>
                <a:latin typeface="Times New Roman" panose="02020603050405020304" pitchFamily="18" charset="0"/>
                <a:cs typeface="Times New Roman" panose="02020603050405020304" pitchFamily="18" charset="0"/>
              </a:rPr>
              <a:t>To improve small traffic sign detection accuracy using multi-scale feature learning (BiFPN) and enhanced preprocessing techniques.</a:t>
            </a: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0" i="0" dirty="0">
                <a:solidFill>
                  <a:srgbClr val="0D0D0D"/>
                </a:solidFill>
                <a:effectLst/>
                <a:latin typeface="Times New Roman" panose="02020603050405020304" pitchFamily="18" charset="0"/>
                <a:cs typeface="Times New Roman" panose="02020603050405020304" pitchFamily="18" charset="0"/>
              </a:rPr>
              <a:t>To achieve robust performance under adverse weather and low-visibility conditions through advanced data augmentation and normalization methods.</a:t>
            </a: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0" i="0" dirty="0">
                <a:solidFill>
                  <a:srgbClr val="0D0D0D"/>
                </a:solidFill>
                <a:effectLst/>
                <a:latin typeface="Times New Roman" panose="02020603050405020304" pitchFamily="18" charset="0"/>
                <a:cs typeface="Times New Roman" panose="02020603050405020304" pitchFamily="18" charset="0"/>
              </a:rPr>
              <a:t>To design a lightweight and efficient model suitable for real-time deployment on edge and low-power devices without sacrificing detection accuracy.</a:t>
            </a:r>
            <a:endParaRPr lang="en-US" altLang="en-US" sz="2400" b="0" i="0" dirty="0">
              <a:solidFill>
                <a:srgbClr val="0D0D0D"/>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sz="24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8904" y="529843"/>
            <a:ext cx="4672965" cy="701040"/>
          </a:xfrm>
          <a:prstGeom prst="rect">
            <a:avLst/>
          </a:prstGeom>
        </p:spPr>
        <p:txBody>
          <a:bodyPr vert="horz" wrap="square" lIns="0" tIns="16510" rIns="0" bIns="0" rtlCol="0">
            <a:spAutoFit/>
          </a:bodyPr>
          <a:lstStyle/>
          <a:p>
            <a:pPr marL="12700">
              <a:lnSpc>
                <a:spcPct val="100000"/>
              </a:lnSpc>
              <a:spcBef>
                <a:spcPts val="130"/>
              </a:spcBef>
            </a:pPr>
            <a:r>
              <a:rPr spc="10" dirty="0"/>
              <a:t>METHODOLOGY</a:t>
            </a:r>
            <a:endParaRPr spc="10"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191000" y="6451049"/>
            <a:ext cx="10697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69719"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6705882"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5" y="1516380"/>
            <a:ext cx="10893425" cy="4587875"/>
          </a:xfrm>
          <a:prstGeom prst="rect">
            <a:avLst/>
          </a:prstGeom>
        </p:spPr>
        <p:txBody>
          <a:bodyPr vert="horz" wrap="square" lIns="0" tIns="60960" rIns="0" bIns="0" rtlCol="0">
            <a:noAutofit/>
          </a:bodyPr>
          <a:lstStyle/>
          <a:p>
            <a:pPr marL="241300" marR="290830" indent="-229235" algn="just">
              <a:lnSpc>
                <a:spcPts val="3000"/>
              </a:lnSpc>
              <a:spcBef>
                <a:spcPts val="480"/>
              </a:spcBef>
              <a:buFont typeface="Arial MT"/>
              <a:buChar char="•"/>
              <a:tabLst>
                <a:tab pos="241935" algn="l"/>
                <a:tab pos="2394585" algn="l"/>
              </a:tabLst>
            </a:pPr>
            <a:r>
              <a:rPr lang="en-US" altLang="en-US" sz="2400" b="1" dirty="0">
                <a:latin typeface="Times New Roman" panose="02020603050405020304" pitchFamily="18" charset="0"/>
                <a:cs typeface="Times New Roman" panose="02020603050405020304" pitchFamily="18" charset="0"/>
              </a:rPr>
              <a:t>Input &amp; Preprocessing</a:t>
            </a:r>
            <a:r>
              <a:rPr lang="en-US" altLang="en-US" sz="2400" dirty="0">
                <a:latin typeface="Times New Roman" panose="02020603050405020304" pitchFamily="18" charset="0"/>
                <a:cs typeface="Times New Roman" panose="02020603050405020304" pitchFamily="18" charset="0"/>
              </a:rPr>
              <a:t>: Collect images/videos, perform noise cleaning, resizing, normalization, and data augmentation.</a:t>
            </a: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altLang="en-US" sz="2400" b="1" dirty="0">
                <a:latin typeface="Times New Roman" panose="02020603050405020304" pitchFamily="18" charset="0"/>
                <a:cs typeface="Times New Roman" panose="02020603050405020304" pitchFamily="18" charset="0"/>
              </a:rPr>
              <a:t>Detection</a:t>
            </a:r>
            <a:r>
              <a:rPr lang="en-US" altLang="en-US" sz="2400" dirty="0">
                <a:latin typeface="Times New Roman" panose="02020603050405020304" pitchFamily="18" charset="0"/>
                <a:cs typeface="Times New Roman" panose="02020603050405020304" pitchFamily="18" charset="0"/>
              </a:rPr>
              <a:t>: Use YOLOv8 with BiFPN to locate traffic signs, including small and distant signs.</a:t>
            </a: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altLang="en-US" sz="2400" b="1" dirty="0">
                <a:latin typeface="Times New Roman" panose="02020603050405020304" pitchFamily="18" charset="0"/>
                <a:cs typeface="Times New Roman" panose="02020603050405020304" pitchFamily="18" charset="0"/>
              </a:rPr>
              <a:t>Classification</a:t>
            </a:r>
            <a:r>
              <a:rPr lang="en-US" altLang="en-US" sz="2400" dirty="0">
                <a:latin typeface="Times New Roman" panose="02020603050405020304" pitchFamily="18" charset="0"/>
                <a:cs typeface="Times New Roman" panose="02020603050405020304" pitchFamily="18" charset="0"/>
              </a:rPr>
              <a:t>: Crop detected signs and classify them using a lightweight CNN into 43 categories.</a:t>
            </a: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endParaRPr lang="en-US" altLang="en-US" sz="2400" dirty="0">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altLang="en-US" sz="2400" b="1" dirty="0">
                <a:latin typeface="Times New Roman" panose="02020603050405020304" pitchFamily="18" charset="0"/>
                <a:cs typeface="Times New Roman" panose="02020603050405020304" pitchFamily="18" charset="0"/>
              </a:rPr>
              <a:t>Output &amp; Evaluation</a:t>
            </a:r>
            <a:r>
              <a:rPr lang="en-US" altLang="en-US" sz="2400" dirty="0">
                <a:latin typeface="Times New Roman" panose="02020603050405020304" pitchFamily="18" charset="0"/>
                <a:cs typeface="Times New Roman" panose="02020603050405020304" pitchFamily="18" charset="0"/>
              </a:rPr>
              <a:t>: Display labeled bounding boxes and evaluate using accuracy, precision, recall, and F1-score.</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3350" y="566674"/>
            <a:ext cx="9726930" cy="632460"/>
          </a:xfrm>
          <a:prstGeom prst="rect">
            <a:avLst/>
          </a:prstGeom>
        </p:spPr>
        <p:txBody>
          <a:bodyPr vert="horz" wrap="square" lIns="0" tIns="16510" rIns="0" bIns="0" rtlCol="0">
            <a:spAutoFit/>
          </a:bodyPr>
          <a:lstStyle/>
          <a:p>
            <a:pPr marL="12700" algn="ctr">
              <a:lnSpc>
                <a:spcPct val="100000"/>
              </a:lnSpc>
              <a:spcBef>
                <a:spcPts val="130"/>
              </a:spcBef>
            </a:pPr>
            <a:r>
              <a:rPr sz="3950" spc="20" dirty="0"/>
              <a:t>FLOW</a:t>
            </a:r>
            <a:r>
              <a:rPr sz="3950" spc="-25" dirty="0"/>
              <a:t> </a:t>
            </a:r>
            <a:r>
              <a:rPr sz="3950" spc="5" dirty="0"/>
              <a:t>DIAGRAM</a:t>
            </a:r>
            <a:endParaRPr sz="3950"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29" y="6451049"/>
            <a:ext cx="936815"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115" y="6450965"/>
            <a:ext cx="1087755"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6629682"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pic>
        <p:nvPicPr>
          <p:cNvPr id="10" name="Picture 9" descr="C:/Users/Dell/Pictures/Screenshots/architecture.jpgarchitecture"/>
          <p:cNvPicPr>
            <a:picLocks noChangeAspect="1"/>
          </p:cNvPicPr>
          <p:nvPr/>
        </p:nvPicPr>
        <p:blipFill rotWithShape="1">
          <a:blip r:embed="rId1"/>
          <a:srcRect t="8227" b="1825"/>
          <a:stretch>
            <a:fillRect/>
          </a:stretch>
        </p:blipFill>
        <p:spPr>
          <a:xfrm>
            <a:off x="1905000" y="1447800"/>
            <a:ext cx="8839200" cy="4648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599" y="381253"/>
            <a:ext cx="5318760" cy="701040"/>
          </a:xfrm>
          <a:prstGeom prst="rect">
            <a:avLst/>
          </a:prstGeom>
        </p:spPr>
        <p:txBody>
          <a:bodyPr vert="horz" wrap="square" lIns="0" tIns="16510" rIns="0" bIns="0" rtlCol="0">
            <a:spAutoFit/>
          </a:bodyPr>
          <a:lstStyle/>
          <a:p>
            <a:pPr marL="12700">
              <a:lnSpc>
                <a:spcPct val="100000"/>
              </a:lnSpc>
              <a:spcBef>
                <a:spcPts val="130"/>
              </a:spcBef>
            </a:pPr>
            <a:r>
              <a:rPr spc="-30" dirty="0"/>
              <a:t>IMPLEMENTATION</a:t>
            </a:r>
            <a:endParaRPr spc="-30"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267200" y="6451049"/>
            <a:ext cx="9173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5"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533400" y="1243330"/>
            <a:ext cx="11537950" cy="5104130"/>
          </a:xfrm>
          <a:prstGeom prst="rect">
            <a:avLst/>
          </a:prstGeom>
        </p:spPr>
        <p:txBody>
          <a:bodyPr vert="horz" wrap="square" lIns="0" tIns="60960" rIns="0" bIns="0" rtlCol="0">
            <a:noAutofit/>
          </a:bodyPr>
          <a:lstStyle/>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Hardware Requirements :</a:t>
            </a:r>
            <a:r>
              <a:rPr lang="en-US" altLang="en-US" sz="2000" dirty="0">
                <a:latin typeface="Times New Roman" panose="02020603050405020304" pitchFamily="18" charset="0"/>
                <a:cs typeface="Times New Roman" panose="02020603050405020304" pitchFamily="18" charset="0"/>
              </a:rPr>
              <a:t> Intel Core i5 processor or higher, 8 GB RAM (minimum) and GPU recommended (NVIDIA CUDA-supported) for faster training</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Software Requirements :</a:t>
            </a:r>
            <a:r>
              <a:rPr lang="en-US" altLang="en-US" sz="2000" dirty="0">
                <a:latin typeface="Times New Roman" panose="02020603050405020304" pitchFamily="18" charset="0"/>
                <a:cs typeface="Times New Roman" panose="02020603050405020304" pitchFamily="18" charset="0"/>
              </a:rPr>
              <a:t> Python 3.9+, Google Colab / VS Code / Jupyter Notebook, PyTorch (YOLOv8 framework), TensorFlow / Keras (CNN classifier), OpenCV, NumPy and Pandas</a:t>
            </a:r>
            <a:endParaRPr lang="en-US" altLang="en-US" sz="2000" dirty="0">
              <a:latin typeface="Times New Roman" panose="02020603050405020304" pitchFamily="18" charset="0"/>
              <a:cs typeface="Times New Roman" panose="02020603050405020304" pitchFamily="18" charset="0"/>
            </a:endParaRPr>
          </a:p>
          <a:p>
            <a:endParaRPr lang="en-US" alt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Preprocessing Techniques:</a:t>
            </a:r>
            <a:r>
              <a:rPr lang="en-US" altLang="en-US" sz="2000" dirty="0">
                <a:latin typeface="Times New Roman" panose="02020603050405020304" pitchFamily="18" charset="0"/>
                <a:cs typeface="Times New Roman" panose="02020603050405020304" pitchFamily="18" charset="0"/>
              </a:rPr>
              <a:t> Cleaning, Resizing, Normalization and Augmentation and Rotation</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Detection Module (YOLOv8) : </a:t>
            </a:r>
            <a:r>
              <a:rPr lang="en-US" altLang="en-US" sz="2000" dirty="0">
                <a:latin typeface="Times New Roman" panose="02020603050405020304" pitchFamily="18" charset="0"/>
                <a:cs typeface="Times New Roman" panose="02020603050405020304" pitchFamily="18" charset="0"/>
              </a:rPr>
              <a:t>YOLOv8 with BiFPN is trained to detect traffic signs from full-frame images, Provides bounding boxes and confidence scores in real time and Optimized for detecting small and distant traffic signs.</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Classification Module (CNN) : </a:t>
            </a:r>
            <a:r>
              <a:rPr lang="en-US" altLang="en-US" sz="2000" dirty="0">
                <a:latin typeface="Times New Roman" panose="02020603050405020304" pitchFamily="18" charset="0"/>
                <a:cs typeface="Times New Roman" panose="02020603050405020304" pitchFamily="18" charset="0"/>
              </a:rPr>
              <a:t>Cropped traffic sign images are forwarded to a lightweight CNN and</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      CNN extracts features and assigns each sign to one of the 43 predefined classes using softmax prediction.</a:t>
            </a:r>
            <a:endParaRPr lang="en-US" altLang="en-US" sz="2000" dirty="0">
              <a:latin typeface="Times New Roman" panose="02020603050405020304" pitchFamily="18" charset="0"/>
              <a:cs typeface="Times New Roman" panose="02020603050405020304" pitchFamily="18" charset="0"/>
            </a:endParaRPr>
          </a:p>
          <a:p>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BiFPN Integration : </a:t>
            </a:r>
            <a:r>
              <a:rPr lang="en-US" altLang="en-US" sz="2000" dirty="0">
                <a:latin typeface="Times New Roman" panose="02020603050405020304" pitchFamily="18" charset="0"/>
                <a:cs typeface="Times New Roman" panose="02020603050405020304" pitchFamily="18" charset="0"/>
              </a:rPr>
              <a:t>To handle blurriness and detect unclear or small traffic signs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Dell/Pictures/Screenshots/Screenshot (77).pngScreenshot (77)"/>
          <p:cNvPicPr>
            <a:picLocks noChangeAspect="1"/>
          </p:cNvPicPr>
          <p:nvPr/>
        </p:nvPicPr>
        <p:blipFill>
          <a:blip r:embed="rId1"/>
          <a:srcRect t="11634" b="6342"/>
          <a:stretch>
            <a:fillRect/>
          </a:stretch>
        </p:blipFill>
        <p:spPr>
          <a:xfrm>
            <a:off x="1109345" y="1219200"/>
            <a:ext cx="10244455" cy="4724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Dell/Pictures/Screenshots/Screenshot (78).pngScreenshot (78)"/>
          <p:cNvPicPr>
            <a:picLocks noChangeAspect="1"/>
          </p:cNvPicPr>
          <p:nvPr/>
        </p:nvPicPr>
        <p:blipFill>
          <a:blip r:embed="rId1"/>
          <a:srcRect t="11419" b="6188"/>
          <a:stretch>
            <a:fillRect/>
          </a:stretch>
        </p:blipFill>
        <p:spPr>
          <a:xfrm>
            <a:off x="990600" y="1295400"/>
            <a:ext cx="10363200" cy="48006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Dell/Pictures/Screenshots/Screenshot (75).pngScreenshot (75)"/>
          <p:cNvPicPr>
            <a:picLocks noChangeAspect="1"/>
          </p:cNvPicPr>
          <p:nvPr/>
        </p:nvPicPr>
        <p:blipFill>
          <a:blip r:embed="rId1"/>
          <a:srcRect t="11420" b="6189"/>
          <a:stretch>
            <a:fillRect/>
          </a:stretch>
        </p:blipFill>
        <p:spPr>
          <a:xfrm>
            <a:off x="990600" y="1371600"/>
            <a:ext cx="10363200" cy="4800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2851" y="529843"/>
            <a:ext cx="6035040" cy="701040"/>
          </a:xfrm>
          <a:prstGeom prst="rect">
            <a:avLst/>
          </a:prstGeom>
        </p:spPr>
        <p:txBody>
          <a:bodyPr vert="horz" wrap="square" lIns="0" tIns="16510" rIns="0" bIns="0" rtlCol="0">
            <a:spAutoFit/>
          </a:bodyPr>
          <a:lstStyle/>
          <a:p>
            <a:pPr marL="12700">
              <a:lnSpc>
                <a:spcPct val="100000"/>
              </a:lnSpc>
              <a:spcBef>
                <a:spcPts val="130"/>
              </a:spcBef>
            </a:pPr>
            <a:r>
              <a:rPr spc="45" dirty="0"/>
              <a:t>R</a:t>
            </a:r>
            <a:r>
              <a:rPr spc="-10" dirty="0"/>
              <a:t>E</a:t>
            </a:r>
            <a:r>
              <a:rPr spc="20" dirty="0"/>
              <a:t>S</a:t>
            </a:r>
            <a:r>
              <a:rPr spc="45" dirty="0"/>
              <a:t>U</a:t>
            </a:r>
            <a:r>
              <a:rPr spc="-385" dirty="0"/>
              <a:t>L</a:t>
            </a:r>
            <a:r>
              <a:rPr spc="-10" dirty="0"/>
              <a:t>T</a:t>
            </a:r>
            <a:r>
              <a:rPr spc="15" dirty="0"/>
              <a:t>S</a:t>
            </a:r>
            <a:r>
              <a:rPr spc="-120" dirty="0"/>
              <a:t> </a:t>
            </a:r>
            <a:r>
              <a:rPr spc="25" dirty="0"/>
              <a:t>&amp;</a:t>
            </a:r>
            <a:r>
              <a:rPr spc="-290" dirty="0"/>
              <a:t> </a:t>
            </a:r>
            <a:r>
              <a:rPr spc="45" dirty="0"/>
              <a:t>ANA</a:t>
            </a:r>
            <a:r>
              <a:rPr spc="-385" dirty="0"/>
              <a:t>L</a:t>
            </a:r>
            <a:r>
              <a:rPr spc="-25" dirty="0"/>
              <a:t>Y</a:t>
            </a:r>
            <a:r>
              <a:rPr spc="20" dirty="0"/>
              <a:t>S</a:t>
            </a:r>
            <a:r>
              <a:rPr spc="10" dirty="0"/>
              <a:t>IS</a:t>
            </a:r>
            <a:endParaRPr spc="10"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30" y="6451049"/>
            <a:ext cx="98387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2" y="6451049"/>
            <a:ext cx="983870"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pic>
        <p:nvPicPr>
          <p:cNvPr id="10" name="Picture 9" descr="C:/Users/Dell/Pictures/Screenshots/model_accuracy.pngmodel_accuracy"/>
          <p:cNvPicPr>
            <a:picLocks noChangeAspect="1"/>
          </p:cNvPicPr>
          <p:nvPr/>
        </p:nvPicPr>
        <p:blipFill>
          <a:blip r:embed="rId1"/>
          <a:srcRect l="1348" r="-1183"/>
          <a:stretch>
            <a:fillRect/>
          </a:stretch>
        </p:blipFill>
        <p:spPr>
          <a:xfrm>
            <a:off x="381000" y="1447800"/>
            <a:ext cx="5639054" cy="3733800"/>
          </a:xfrm>
          <a:prstGeom prst="rect">
            <a:avLst/>
          </a:prstGeom>
        </p:spPr>
      </p:pic>
      <p:pic>
        <p:nvPicPr>
          <p:cNvPr id="12" name="Picture 11" descr="C:/Users/Dell/Pictures/Screenshots/model_loss.pngmodel_loss"/>
          <p:cNvPicPr>
            <a:picLocks noChangeAspect="1"/>
          </p:cNvPicPr>
          <p:nvPr/>
        </p:nvPicPr>
        <p:blipFill>
          <a:blip r:embed="rId2"/>
          <a:srcRect l="458" r="-286"/>
          <a:stretch>
            <a:fillRect/>
          </a:stretch>
        </p:blipFill>
        <p:spPr>
          <a:xfrm>
            <a:off x="6187440" y="1524000"/>
            <a:ext cx="5715000" cy="3733800"/>
          </a:xfrm>
          <a:prstGeom prst="rect">
            <a:avLst/>
          </a:prstGeom>
        </p:spPr>
      </p:pic>
      <p:sp>
        <p:nvSpPr>
          <p:cNvPr id="13" name="TextBox 12"/>
          <p:cNvSpPr txBox="1"/>
          <p:nvPr/>
        </p:nvSpPr>
        <p:spPr>
          <a:xfrm>
            <a:off x="1667510" y="5334000"/>
            <a:ext cx="3133090" cy="369332"/>
          </a:xfrm>
          <a:prstGeom prst="rect">
            <a:avLst/>
          </a:prstGeom>
          <a:noFill/>
        </p:spPr>
        <p:txBody>
          <a:bodyPr wrap="square" rtlCol="0">
            <a:spAutoFit/>
          </a:bodyPr>
          <a:lstStyle/>
          <a:p>
            <a:r>
              <a:rPr lang="en-US" sz="1800" dirty="0">
                <a:effectLst/>
                <a:latin typeface="Times New Roman" panose="02020603050405020304" pitchFamily="18" charset="0"/>
                <a:ea typeface="SimSun" panose="02010600030101010101" pitchFamily="2" charset="-122"/>
              </a:rPr>
              <a:t>           Fig. Accuracy Report</a:t>
            </a:r>
            <a:endParaRPr lang="en-IN" dirty="0"/>
          </a:p>
        </p:txBody>
      </p:sp>
      <p:sp>
        <p:nvSpPr>
          <p:cNvPr id="14" name="TextBox 13"/>
          <p:cNvSpPr txBox="1"/>
          <p:nvPr/>
        </p:nvSpPr>
        <p:spPr>
          <a:xfrm>
            <a:off x="7711441" y="5343643"/>
            <a:ext cx="2667000" cy="369332"/>
          </a:xfrm>
          <a:prstGeom prst="rect">
            <a:avLst/>
          </a:prstGeom>
          <a:noFill/>
        </p:spPr>
        <p:txBody>
          <a:bodyPr wrap="square" rtlCol="0">
            <a:spAutoFit/>
          </a:bodyPr>
          <a:lstStyle/>
          <a:p>
            <a:pPr algn="ctr"/>
            <a:r>
              <a:rPr lang="en-US" sz="1800" dirty="0">
                <a:effectLst/>
                <a:latin typeface="Times New Roman" panose="02020603050405020304" pitchFamily="18" charset="0"/>
                <a:ea typeface="SimSun" panose="02010600030101010101" pitchFamily="2" charset="-122"/>
              </a:rPr>
              <a:t>Fig. Loss Report</a:t>
            </a:r>
            <a:endParaRPr lang="en-IN" sz="1800" dirty="0">
              <a:effectLst/>
              <a:latin typeface="Times New Roman" panose="02020603050405020304" pitchFamily="18" charset="0"/>
              <a:ea typeface="SimSun"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3280" y="529843"/>
            <a:ext cx="9306560" cy="701040"/>
          </a:xfrm>
          <a:prstGeom prst="rect">
            <a:avLst/>
          </a:prstGeom>
        </p:spPr>
        <p:txBody>
          <a:bodyPr vert="horz" wrap="square" lIns="0" tIns="16510" rIns="0" bIns="0" rtlCol="0">
            <a:spAutoFit/>
          </a:bodyPr>
          <a:lstStyle/>
          <a:p>
            <a:pPr marL="12700">
              <a:lnSpc>
                <a:spcPct val="100000"/>
              </a:lnSpc>
              <a:spcBef>
                <a:spcPts val="130"/>
              </a:spcBef>
            </a:pPr>
            <a:r>
              <a:rPr spc="20" dirty="0"/>
              <a:t>CONCLUSION</a:t>
            </a:r>
            <a:r>
              <a:rPr spc="-275" dirty="0"/>
              <a:t> </a:t>
            </a:r>
            <a:r>
              <a:rPr spc="25" dirty="0"/>
              <a:t>and</a:t>
            </a:r>
            <a:r>
              <a:rPr spc="-65" dirty="0"/>
              <a:t> </a:t>
            </a:r>
            <a:r>
              <a:rPr spc="25" dirty="0"/>
              <a:t>FUTURE</a:t>
            </a:r>
            <a:r>
              <a:rPr spc="-250" dirty="0"/>
              <a:t> </a:t>
            </a:r>
            <a:r>
              <a:rPr spc="25" dirty="0"/>
              <a:t>SCOPE</a:t>
            </a:r>
            <a:endParaRPr spc="2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3886200" y="6451049"/>
            <a:ext cx="12983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37655"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5" y="1828800"/>
            <a:ext cx="8836025" cy="792525"/>
          </a:xfrm>
          <a:prstGeom prst="rect">
            <a:avLst/>
          </a:prstGeom>
        </p:spPr>
        <p:txBody>
          <a:bodyPr vert="horz" wrap="square" lIns="0" tIns="99060" rIns="0" bIns="0" rtlCol="0">
            <a:spAutoFit/>
          </a:bodyPr>
          <a:lstStyle/>
          <a:p>
            <a:pPr>
              <a:lnSpc>
                <a:spcPct val="100000"/>
              </a:lnSpc>
              <a:spcBef>
                <a:spcPts val="50"/>
              </a:spcBef>
            </a:pPr>
            <a:endParaRPr lang="en-IN" sz="4500" dirty="0">
              <a:latin typeface="Times New Roman" panose="02020603050405020304"/>
              <a:cs typeface="Times New Roman" panose="02020603050405020304"/>
            </a:endParaRPr>
          </a:p>
        </p:txBody>
      </p:sp>
      <p:sp>
        <p:nvSpPr>
          <p:cNvPr id="10" name="TextBox 9"/>
          <p:cNvSpPr txBox="1"/>
          <p:nvPr/>
        </p:nvSpPr>
        <p:spPr>
          <a:xfrm>
            <a:off x="502920" y="1302385"/>
            <a:ext cx="10702290" cy="4777105"/>
          </a:xfrm>
          <a:prstGeom prst="rect">
            <a:avLst/>
          </a:prstGeom>
          <a:noFill/>
        </p:spPr>
        <p:txBody>
          <a:bodyPr wrap="square">
            <a:noAutofit/>
          </a:bodyPr>
          <a:lstStyle/>
          <a:p>
            <a:pPr indent="0" algn="just">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Conclusion</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This work proposed SignSight, a hybrid YOLOv8 + CNN system for accurate real-time traffic sign detection and classification.</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model effectively detects small signs and performs well under challenging weather and lighting conditions.</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Experimental results show high accuracy and reliable performance, proving the suitability of the system for intelligent transportation applications.</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None/>
            </a:pPr>
            <a:r>
              <a:rPr lang="en-US" altLang="en-US" sz="2400" b="1" dirty="0">
                <a:latin typeface="Times New Roman" panose="02020603050405020304" pitchFamily="18" charset="0"/>
                <a:cs typeface="Times New Roman" panose="02020603050405020304" pitchFamily="18" charset="0"/>
              </a:rPr>
              <a:t>Future Scope</a:t>
            </a:r>
            <a:endParaRPr lang="en-US" altLang="en-US" sz="24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Training with more severe weather simulations (heavy rain, fog, night scenes) to further improve robustness.</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Model optimization using pruning and quantization for deployment on low-power edge devices </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Expansion to support multi-country traffic sign datasets for wider global applicability.</a:t>
            </a: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Integration with driver assistance systems (ADAS) for real-time alerts and decision support.</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7910" y="529843"/>
            <a:ext cx="3807460" cy="701040"/>
          </a:xfrm>
          <a:prstGeom prst="rect">
            <a:avLst/>
          </a:prstGeom>
        </p:spPr>
        <p:txBody>
          <a:bodyPr vert="horz" wrap="square" lIns="0" tIns="16510" rIns="0" bIns="0" rtlCol="0">
            <a:spAutoFit/>
          </a:bodyPr>
          <a:lstStyle/>
          <a:p>
            <a:pPr marL="12700">
              <a:lnSpc>
                <a:spcPct val="100000"/>
              </a:lnSpc>
              <a:spcBef>
                <a:spcPts val="130"/>
              </a:spcBef>
            </a:pPr>
            <a:r>
              <a:rPr spc="15" dirty="0"/>
              <a:t>REFERENCES</a:t>
            </a:r>
            <a:endParaRPr spc="15" dirty="0"/>
          </a:p>
        </p:txBody>
      </p:sp>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038600" y="6451049"/>
            <a:ext cx="11459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2" y="6451049"/>
            <a:ext cx="928054"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sp>
        <p:nvSpPr>
          <p:cNvPr id="3" name="object 3"/>
          <p:cNvSpPr txBox="1"/>
          <p:nvPr/>
        </p:nvSpPr>
        <p:spPr>
          <a:xfrm>
            <a:off x="917575" y="1336040"/>
            <a:ext cx="10283825" cy="4559935"/>
          </a:xfrm>
          <a:prstGeom prst="rect">
            <a:avLst/>
          </a:prstGeom>
        </p:spPr>
        <p:txBody>
          <a:bodyPr vert="horz" wrap="square" lIns="0" tIns="15875" rIns="0" bIns="0" rtlCol="0">
            <a:noAutofit/>
          </a:bodyPr>
          <a:lstStyle/>
          <a:p>
            <a:pPr marL="457200" indent="-457200" algn="l">
              <a:lnSpc>
                <a:spcPts val="2455"/>
              </a:lnSpc>
              <a:spcBef>
                <a:spcPts val="125"/>
              </a:spcBef>
              <a:buFont typeface="Arial" panose="020B0604020202020204" pitchFamily="34" charset="0"/>
              <a:buChar char="•"/>
              <a:tabLst>
                <a:tab pos="457200" algn="l"/>
                <a:tab pos="469900" algn="l"/>
              </a:tabLst>
            </a:pPr>
            <a:r>
              <a:rPr lang="en-US" altLang="en-US" sz="2000" dirty="0">
                <a:latin typeface="Times New Roman" panose="02020603050405020304"/>
                <a:cs typeface="Times New Roman" panose="02020603050405020304"/>
              </a:rPr>
              <a:t>Qiu, J., Zhang, W., Xu, S., and Zhou, H., “DP-YOLO: A Lightweight Traffic Sign Detection Model for Small Object Detection,” Digital Signal Processing, 2025.</a:t>
            </a: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r>
              <a:rPr lang="en-US" altLang="en-US" sz="2000" dirty="0">
                <a:latin typeface="Times New Roman" panose="02020603050405020304"/>
                <a:cs typeface="Times New Roman" panose="02020603050405020304"/>
              </a:rPr>
              <a:t>Zhang, H., Liang, M., and Wang, Y., “YOLO-BS: A Traffic Sign Detection Algorithm Based on YOLOv8,” Scientific Reports, 2025.</a:t>
            </a: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r>
              <a:rPr lang="en-US" altLang="en-US" sz="2000" dirty="0">
                <a:latin typeface="Times New Roman" panose="02020603050405020304"/>
                <a:cs typeface="Times New Roman" panose="02020603050405020304"/>
              </a:rPr>
              <a:t>Du, C., Su, S., Lin, C., Yao, Y., Jin, R., and Hong, X., “MASG-Net: A Lightweight Network for Traffic Sign Detection Using Multi-Scale Context Awareness,” Scientific Reports, 2025.</a:t>
            </a: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r>
              <a:rPr lang="en-US" altLang="en-US" sz="2000" dirty="0">
                <a:latin typeface="Times New Roman" panose="02020603050405020304"/>
                <a:cs typeface="Times New Roman" panose="02020603050405020304"/>
              </a:rPr>
              <a:t>Tran, H. N., Nguyen, N. N. N., Le, N. Q. P., and Nguyen, A. D.,</a:t>
            </a:r>
            <a:endParaRPr lang="en-US" altLang="en-US" sz="2000" dirty="0">
              <a:latin typeface="Times New Roman" panose="02020603050405020304"/>
              <a:cs typeface="Times New Roman" panose="02020603050405020304"/>
            </a:endParaRPr>
          </a:p>
          <a:p>
            <a:pPr indent="457200" algn="l">
              <a:lnSpc>
                <a:spcPts val="2455"/>
              </a:lnSpc>
              <a:spcBef>
                <a:spcPts val="125"/>
              </a:spcBef>
              <a:buFont typeface="Arial" panose="020B0604020202020204" pitchFamily="34" charset="0"/>
              <a:buNone/>
              <a:tabLst>
                <a:tab pos="457200" algn="l"/>
                <a:tab pos="469900" algn="l"/>
              </a:tabLst>
            </a:pPr>
            <a:r>
              <a:rPr lang="en-US" altLang="en-US" sz="2000" dirty="0">
                <a:latin typeface="Times New Roman" panose="02020603050405020304"/>
                <a:cs typeface="Times New Roman" panose="02020603050405020304"/>
              </a:rPr>
              <a:t>“Grounding DINO and Distillation-Enhanced Model for Advanced Traffic Sign Detection and 	Classification,” Pattern Recognition, 2025.</a:t>
            </a: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endParaRPr lang="en-US" altLang="en-US" sz="2000" dirty="0">
              <a:latin typeface="Times New Roman" panose="02020603050405020304"/>
              <a:cs typeface="Times New Roman" panose="02020603050405020304"/>
            </a:endParaRPr>
          </a:p>
          <a:p>
            <a:pPr marL="457200" indent="-457200" algn="l">
              <a:lnSpc>
                <a:spcPts val="2455"/>
              </a:lnSpc>
              <a:spcBef>
                <a:spcPts val="125"/>
              </a:spcBef>
              <a:buFont typeface="Arial" panose="020B0604020202020204" pitchFamily="34" charset="0"/>
              <a:buChar char="•"/>
              <a:tabLst>
                <a:tab pos="457200" algn="l"/>
                <a:tab pos="469900" algn="l"/>
              </a:tabLst>
            </a:pPr>
            <a:r>
              <a:rPr lang="en-US" altLang="en-US" sz="2000" dirty="0">
                <a:latin typeface="Times New Roman" panose="02020603050405020304"/>
                <a:cs typeface="Times New Roman" panose="02020603050405020304"/>
              </a:rPr>
              <a:t>Megalingam, R., Thanigundala, K., Musani, S., and Gadde, L.,</a:t>
            </a:r>
            <a:endParaRPr lang="en-US" altLang="en-US" sz="2000" dirty="0">
              <a:latin typeface="Times New Roman" panose="02020603050405020304"/>
              <a:cs typeface="Times New Roman" panose="02020603050405020304"/>
            </a:endParaRPr>
          </a:p>
          <a:p>
            <a:pPr indent="457200" algn="l">
              <a:lnSpc>
                <a:spcPts val="2455"/>
              </a:lnSpc>
              <a:spcBef>
                <a:spcPts val="125"/>
              </a:spcBef>
              <a:buFont typeface="Arial" panose="020B0604020202020204" pitchFamily="34" charset="0"/>
              <a:buNone/>
              <a:tabLst>
                <a:tab pos="457200" algn="l"/>
                <a:tab pos="469900" algn="l"/>
              </a:tabLst>
            </a:pPr>
            <a:r>
              <a:rPr lang="en-US" altLang="en-US" sz="2000" dirty="0">
                <a:latin typeface="Times New Roman" panose="02020603050405020304"/>
                <a:cs typeface="Times New Roman" panose="02020603050405020304"/>
              </a:rPr>
              <a:t>“Indian Traffic Sign Detection and Recognition Using Deep Learning,” Sensors, 2025.</a:t>
            </a:r>
            <a:endParaRPr lang="en-US" altLang="en-US" sz="2000" dirty="0">
              <a:latin typeface="Times New Roman" panose="02020603050405020304"/>
              <a:cs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114800" y="6451049"/>
            <a:ext cx="1069720"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69719"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pic>
        <p:nvPicPr>
          <p:cNvPr id="9" name="Content Placeholder 2"/>
          <p:cNvPicPr>
            <a:picLocks noGrp="1" noChangeAspect="1"/>
          </p:cNvPicPr>
          <p:nvPr/>
        </p:nvPicPr>
        <p:blipFill>
          <a:blip r:embed="rId1">
            <a:extLst>
              <a:ext uri="{28A0092B-C50C-407E-A947-70E740481C1C}">
                <a14:useLocalDpi xmlns:a14="http://schemas.microsoft.com/office/drawing/2010/main" val="0"/>
              </a:ext>
            </a:extLst>
          </a:blip>
          <a:srcRect/>
          <a:stretch>
            <a:fillRect/>
          </a:stretch>
        </p:blipFill>
        <p:spPr>
          <a:xfrm>
            <a:off x="1503320" y="609600"/>
            <a:ext cx="9185360" cy="51772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542290"/>
          </a:xfrm>
          <a:prstGeom prst="rect">
            <a:avLst/>
          </a:prstGeom>
        </p:spPr>
        <p:txBody>
          <a:bodyPr vert="horz" wrap="square" lIns="0" tIns="0" rIns="0" bIns="0" rtlCol="0">
            <a:spAutoFit/>
          </a:bodyPr>
          <a:lstStyle/>
          <a:p>
            <a:pPr marL="12700">
              <a:lnSpc>
                <a:spcPts val="1410"/>
              </a:lnSpc>
            </a:pPr>
            <a:r>
              <a:rPr lang="en-US" spc="5" dirty="0">
                <a:sym typeface="+mn-ea"/>
              </a:rPr>
              <a:t>05/12/2025</a:t>
            </a:r>
            <a:endParaRPr lang="en-US" spc="5" dirty="0"/>
          </a:p>
          <a:p>
            <a:pPr marL="12700">
              <a:lnSpc>
                <a:spcPts val="1410"/>
              </a:lnSpc>
            </a:pPr>
            <a:endParaRPr spc="5" dirty="0"/>
          </a:p>
          <a:p>
            <a:pPr marL="12700">
              <a:lnSpc>
                <a:spcPts val="1410"/>
              </a:lnSpc>
            </a:pPr>
            <a:endParaRPr spc="5" dirty="0"/>
          </a:p>
        </p:txBody>
      </p:sp>
      <p:sp>
        <p:nvSpPr>
          <p:cNvPr id="5" name="object 5"/>
          <p:cNvSpPr txBox="1"/>
          <p:nvPr/>
        </p:nvSpPr>
        <p:spPr>
          <a:xfrm>
            <a:off x="4426330" y="6451049"/>
            <a:ext cx="1066002" cy="180340"/>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panose="02020603050405020304"/>
                <a:cs typeface="Times New Roman" panose="02020603050405020304"/>
              </a:rPr>
              <a:t>Review</a:t>
            </a:r>
            <a:r>
              <a:rPr sz="1200" spc="1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2</a:t>
            </a:r>
            <a:endParaRPr lang="en-US" sz="1200" spc="5" dirty="0">
              <a:solidFill>
                <a:srgbClr val="888888"/>
              </a:solidFill>
              <a:latin typeface="Times New Roman" panose="02020603050405020304"/>
              <a:cs typeface="Times New Roman" panose="02020603050405020304"/>
            </a:endParaRPr>
          </a:p>
        </p:txBody>
      </p:sp>
      <p:sp>
        <p:nvSpPr>
          <p:cNvPr id="6" name="object 6"/>
          <p:cNvSpPr txBox="1"/>
          <p:nvPr/>
        </p:nvSpPr>
        <p:spPr>
          <a:xfrm>
            <a:off x="5492331" y="6451049"/>
            <a:ext cx="1066001" cy="180340"/>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panose="02020603050405020304"/>
                <a:cs typeface="Times New Roman" panose="02020603050405020304"/>
              </a:rPr>
              <a:t>Batch</a:t>
            </a:r>
            <a:r>
              <a:rPr sz="1200" spc="85" dirty="0">
                <a:solidFill>
                  <a:srgbClr val="888888"/>
                </a:solidFill>
                <a:latin typeface="Times New Roman" panose="02020603050405020304"/>
                <a:cs typeface="Times New Roman" panose="02020603050405020304"/>
              </a:rPr>
              <a:t> </a:t>
            </a:r>
            <a:r>
              <a:rPr sz="1200" spc="5" dirty="0">
                <a:solidFill>
                  <a:srgbClr val="888888"/>
                </a:solidFill>
                <a:latin typeface="Times New Roman" panose="02020603050405020304"/>
                <a:cs typeface="Times New Roman" panose="02020603050405020304"/>
              </a:rPr>
              <a:t>No.</a:t>
            </a:r>
            <a:r>
              <a:rPr lang="en-US" sz="1200" spc="5" dirty="0">
                <a:solidFill>
                  <a:srgbClr val="888888"/>
                </a:solidFill>
                <a:latin typeface="Times New Roman" panose="02020603050405020304"/>
                <a:cs typeface="Times New Roman" panose="02020603050405020304"/>
              </a:rPr>
              <a:t>CB3</a:t>
            </a:r>
            <a:endParaRPr lang="en-US" sz="1200" spc="5" dirty="0">
              <a:solidFill>
                <a:srgbClr val="888888"/>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fld>
            <a:endParaRPr dirty="0"/>
          </a:p>
        </p:txBody>
      </p:sp>
      <p:pic>
        <p:nvPicPr>
          <p:cNvPr id="9" name="Content Placeholder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18639" y="1046480"/>
            <a:ext cx="8655341" cy="4592320"/>
          </a:xfrm>
          <a:prstGeom prst="rect">
            <a:avLst/>
          </a:prstGeom>
        </p:spPr>
      </p:pic>
    </p:spTree>
  </p:cSld>
  <p:clrMapOvr>
    <a:masterClrMapping/>
  </p:clrMapOvr>
</p:sld>
</file>

<file path=ppt/tags/tag1.xml><?xml version="1.0" encoding="utf-8"?>
<p:tagLst xmlns:p="http://schemas.openxmlformats.org/presentationml/2006/main">
  <p:tag name="TABLE_ENDDRAG_ORIGIN_RECT" val="852*380"/>
  <p:tag name="TABLE_ENDDRAG_RECT" val="42*85*852*3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10785</Words>
  <Application>WPS Presentation</Application>
  <PresentationFormat>Widescreen</PresentationFormat>
  <Paragraphs>428</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Times New Roman</vt:lpstr>
      <vt:lpstr>Times New Roman</vt:lpstr>
      <vt:lpstr>Calibri</vt:lpstr>
      <vt:lpstr>Arial MT</vt:lpstr>
      <vt:lpstr>Microsoft YaHei</vt:lpstr>
      <vt:lpstr>Arial Unicode MS</vt:lpstr>
      <vt:lpstr>Office Theme</vt:lpstr>
      <vt:lpstr>SignSight : A Robust Deep Vision Framework for Real-Time Perception of Traffic Sign Under Adverse Weather Conditions </vt:lpstr>
      <vt:lpstr>OUTLINE</vt:lpstr>
      <vt:lpstr>ABSTRACT</vt:lpstr>
      <vt:lpstr>INTRODUCTION</vt:lpstr>
      <vt:lpstr>PROBLEM STATEMENT</vt:lpstr>
      <vt:lpstr>LITERATURE SURVEY</vt:lpstr>
      <vt:lpstr>LITERATURE SURVEY</vt:lpstr>
      <vt:lpstr>RESEARCH GAPS</vt:lpstr>
      <vt:lpstr>OBJECTIVES</vt:lpstr>
      <vt:lpstr>METHODOLOGY</vt:lpstr>
      <vt:lpstr>FLOW DIAGRAM</vt:lpstr>
      <vt:lpstr>IMPLEMENTATION</vt:lpstr>
      <vt:lpstr>PowerPoint 演示文稿</vt:lpstr>
      <vt:lpstr>PowerPoint 演示文稿</vt:lpstr>
      <vt:lpstr>PowerPoint 演示文稿</vt:lpstr>
      <vt:lpstr>RESULTS &amp; ANALYSIS</vt:lpstr>
      <vt:lpstr>CONCLUSION and FUTURE SCOPE</vt:lpstr>
      <vt:lpstr>REFERENCES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LakshmiDurgamma Amarthaluri</dc:creator>
  <cp:lastModifiedBy>Vinay Nallamothu</cp:lastModifiedBy>
  <cp:revision>31</cp:revision>
  <dcterms:created xsi:type="dcterms:W3CDTF">2024-03-31T16:53:00Z</dcterms:created>
  <dcterms:modified xsi:type="dcterms:W3CDTF">2025-12-06T07:11:04Z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2023-12-24T22:00:00Z</vt:filetime>
  </property>
  <property fmtid="{D5CDD505-2E9C-101B-9397-08002B2CF9AE}" pid="3" name="LastSaved">
    <vt:filetime>2024-03-31T22:00:00Z</vt:filetime>
  </property>
  <property fmtid="{D5CDD505-2E9C-101B-9397-08002B2CF9AE}" pid="4" name="ICV">
    <vt:lpwstr>9798454077D34F08ABE9AC9F8D524846_13</vt:lpwstr>
  </property>
  <property fmtid="{D5CDD505-2E9C-101B-9397-08002B2CF9AE}" pid="5" name="KSOProductBuildVer">
    <vt:lpwstr>1033-12.2.0.23155</vt:lpwstr>
  </property>
</Properties>
</file>