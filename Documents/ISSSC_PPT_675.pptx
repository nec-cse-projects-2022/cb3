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1" r:id="rId4"/>
    <p:sldId id="257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image" Target="../media/image23.svg"/><Relationship Id="rId11" Type="http://schemas.openxmlformats.org/officeDocument/2006/relationships/image" Target="../media/image22.png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image" Target="../media/image23.svg"/><Relationship Id="rId11" Type="http://schemas.openxmlformats.org/officeDocument/2006/relationships/image" Target="../media/image22.png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cxnId="{B71BEF9B-18D5-48DF-9AB3-074DC3B8D9D1}" type="parTrans">
      <dgm:prSet/>
      <dgm:spPr/>
      <dgm:t>
        <a:bodyPr/>
        <a:lstStyle/>
        <a:p>
          <a:endParaRPr lang="en-US"/>
        </a:p>
      </dgm:t>
    </dgm:pt>
    <dgm:pt modelId="{DEE42B7F-154D-4D32-BDD3-2CC540966FE1}" cxnId="{B71BEF9B-18D5-48DF-9AB3-074DC3B8D9D1}" type="sibTrans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cxnId="{89F1DB3A-7C19-488D-BEE9-1825D7F89718}" type="parTrans">
      <dgm:prSet/>
      <dgm:spPr/>
      <dgm:t>
        <a:bodyPr/>
        <a:lstStyle/>
        <a:p>
          <a:endParaRPr lang="en-US"/>
        </a:p>
      </dgm:t>
    </dgm:pt>
    <dgm:pt modelId="{278EEEF4-E038-416B-BEC7-E5F45EC73C13}" cxnId="{89F1DB3A-7C19-488D-BEE9-1825D7F89718}" type="sibTrans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cxnId="{C3014C8E-2C88-4F10-8995-36A3360D9A4B}" type="parTrans">
      <dgm:prSet/>
      <dgm:spPr/>
      <dgm:t>
        <a:bodyPr/>
        <a:lstStyle/>
        <a:p>
          <a:endParaRPr lang="en-US"/>
        </a:p>
      </dgm:t>
    </dgm:pt>
    <dgm:pt modelId="{F69282E3-6EA0-4B06-9924-A5681AE91E7C}" cxnId="{C3014C8E-2C88-4F10-8995-36A3360D9A4B}" type="sibTrans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cxnId="{D5165637-F03B-4A1B-9A95-6929D064DA83}" type="parTrans">
      <dgm:prSet/>
      <dgm:spPr/>
      <dgm:t>
        <a:bodyPr/>
        <a:lstStyle/>
        <a:p>
          <a:endParaRPr lang="en-US"/>
        </a:p>
      </dgm:t>
    </dgm:pt>
    <dgm:pt modelId="{526BE1C7-AD3A-4543-B67D-8DE28496FE72}" cxnId="{D5165637-F03B-4A1B-9A95-6929D064DA83}" type="sibTrans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cxnId="{4C53C6F7-08FB-4DE7-9CCE-F1AB7363C6A8}" type="parTrans">
      <dgm:prSet/>
      <dgm:spPr/>
      <dgm:t>
        <a:bodyPr/>
        <a:lstStyle/>
        <a:p>
          <a:endParaRPr lang="en-US"/>
        </a:p>
      </dgm:t>
    </dgm:pt>
    <dgm:pt modelId="{27C378C9-D0E0-449D-BCE9-9918CB1C5382}" cxnId="{4C53C6F7-08FB-4DE7-9CCE-F1AB7363C6A8}" type="sibTrans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cxnId="{9D47895D-7DB8-4976-8C4B-6536F38181CC}" type="parTrans">
      <dgm:prSet/>
      <dgm:spPr/>
      <dgm:t>
        <a:bodyPr/>
        <a:lstStyle/>
        <a:p>
          <a:endParaRPr lang="en-US"/>
        </a:p>
      </dgm:t>
    </dgm:pt>
    <dgm:pt modelId="{923E47BA-F244-4E90-95AB-0B2D7D0FE1A8}" cxnId="{9D47895D-7DB8-4976-8C4B-6536F38181CC}" type="sibTrans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6ED40233-E8FE-4A3D-A9C5-E7F81AFE78ED}">
      <dsp:nvSpPr>
        <dsp:cNvPr id="3" name="Rounded Rectangle 2"/>
        <dsp:cNvSpPr/>
      </dsp:nvSpPr>
      <dsp:spPr bwMode="white">
        <a:xfrm>
          <a:off x="0" y="0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0"/>
        <a:ext cx="10515600" cy="600185"/>
      </dsp:txXfrm>
    </dsp:sp>
    <dsp:sp modelId="{68A8300B-22F1-48FF-B853-989F40E20B89}">
      <dsp:nvSpPr>
        <dsp:cNvPr id="4" name="Rectangles 3"/>
        <dsp:cNvSpPr/>
      </dsp:nvSpPr>
      <dsp:spPr bwMode="white">
        <a:xfrm>
          <a:off x="181556" y="135042"/>
          <a:ext cx="330102" cy="330102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135042"/>
        <a:ext cx="330102" cy="330102"/>
      </dsp:txXfrm>
    </dsp:sp>
    <dsp:sp modelId="{3B66BFF7-840C-4EEC-926A-DEF1B410FD5A}">
      <dsp:nvSpPr>
        <dsp:cNvPr id="5" name="Rectangles 4"/>
        <dsp:cNvSpPr/>
      </dsp:nvSpPr>
      <dsp:spPr bwMode="white">
        <a:xfrm>
          <a:off x="693213" y="0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  <a:endParaRPr>
            <a:solidFill>
              <a:schemeClr val="tx1"/>
            </a:solidFill>
          </a:endParaRPr>
        </a:p>
      </dsp:txBody>
      <dsp:txXfrm>
        <a:off x="693213" y="0"/>
        <a:ext cx="9822387" cy="600185"/>
      </dsp:txXfrm>
    </dsp:sp>
    <dsp:sp modelId="{8828A0E7-8D5C-498A-810B-3AF32E42D9B2}">
      <dsp:nvSpPr>
        <dsp:cNvPr id="6" name="Rounded Rectangle 5"/>
        <dsp:cNvSpPr/>
      </dsp:nvSpPr>
      <dsp:spPr bwMode="white">
        <a:xfrm>
          <a:off x="0" y="750231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750231"/>
        <a:ext cx="10515600" cy="600185"/>
      </dsp:txXfrm>
    </dsp:sp>
    <dsp:sp modelId="{9389BE19-F2A1-4F89-BCBB-70F61DDF6677}">
      <dsp:nvSpPr>
        <dsp:cNvPr id="7" name="Rectangles 6"/>
        <dsp:cNvSpPr/>
      </dsp:nvSpPr>
      <dsp:spPr bwMode="white">
        <a:xfrm>
          <a:off x="181556" y="885272"/>
          <a:ext cx="330102" cy="330102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885272"/>
        <a:ext cx="330102" cy="330102"/>
      </dsp:txXfrm>
    </dsp:sp>
    <dsp:sp modelId="{35C810EE-2820-4A16-BB8B-B0FF159B569B}">
      <dsp:nvSpPr>
        <dsp:cNvPr id="8" name="Rectangles 7"/>
        <dsp:cNvSpPr/>
      </dsp:nvSpPr>
      <dsp:spPr bwMode="white">
        <a:xfrm>
          <a:off x="693213" y="750231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  <a:endParaRPr>
            <a:solidFill>
              <a:schemeClr val="tx1"/>
            </a:solidFill>
          </a:endParaRPr>
        </a:p>
      </dsp:txBody>
      <dsp:txXfrm>
        <a:off x="693213" y="750231"/>
        <a:ext cx="9822387" cy="600185"/>
      </dsp:txXfrm>
    </dsp:sp>
    <dsp:sp modelId="{D0783A6D-DF42-4B66-BD94-6DDB0AC28C9D}">
      <dsp:nvSpPr>
        <dsp:cNvPr id="9" name="Rounded Rectangle 8"/>
        <dsp:cNvSpPr/>
      </dsp:nvSpPr>
      <dsp:spPr bwMode="white">
        <a:xfrm>
          <a:off x="0" y="1500461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1500461"/>
        <a:ext cx="10515600" cy="600185"/>
      </dsp:txXfrm>
    </dsp:sp>
    <dsp:sp modelId="{12CEF199-53BA-4F76-82F2-184421E764F6}">
      <dsp:nvSpPr>
        <dsp:cNvPr id="10" name="Rectangles 9"/>
        <dsp:cNvSpPr/>
      </dsp:nvSpPr>
      <dsp:spPr bwMode="white">
        <a:xfrm>
          <a:off x="181556" y="1635503"/>
          <a:ext cx="330102" cy="330102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1635503"/>
        <a:ext cx="330102" cy="330102"/>
      </dsp:txXfrm>
    </dsp:sp>
    <dsp:sp modelId="{F67E244D-1270-430E-98F7-488B2D550ECD}">
      <dsp:nvSpPr>
        <dsp:cNvPr id="11" name="Rectangles 10"/>
        <dsp:cNvSpPr/>
      </dsp:nvSpPr>
      <dsp:spPr bwMode="white">
        <a:xfrm>
          <a:off x="693213" y="1500461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  <a:endParaRPr>
            <a:solidFill>
              <a:schemeClr val="tx1"/>
            </a:solidFill>
          </a:endParaRPr>
        </a:p>
      </dsp:txBody>
      <dsp:txXfrm>
        <a:off x="693213" y="1500461"/>
        <a:ext cx="9822387" cy="600185"/>
      </dsp:txXfrm>
    </dsp:sp>
    <dsp:sp modelId="{24D7CF32-FC6C-4748-BBFB-BD3CAF72C60B}">
      <dsp:nvSpPr>
        <dsp:cNvPr id="12" name="Rounded Rectangle 11"/>
        <dsp:cNvSpPr/>
      </dsp:nvSpPr>
      <dsp:spPr bwMode="white">
        <a:xfrm>
          <a:off x="0" y="2250692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2250692"/>
        <a:ext cx="10515600" cy="600185"/>
      </dsp:txXfrm>
    </dsp:sp>
    <dsp:sp modelId="{1A5A7960-10DD-4BF8-B772-407FFE06DF95}">
      <dsp:nvSpPr>
        <dsp:cNvPr id="13" name="Rectangles 12"/>
        <dsp:cNvSpPr/>
      </dsp:nvSpPr>
      <dsp:spPr bwMode="white">
        <a:xfrm>
          <a:off x="181556" y="2385734"/>
          <a:ext cx="330102" cy="330102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2385734"/>
        <a:ext cx="330102" cy="330102"/>
      </dsp:txXfrm>
    </dsp:sp>
    <dsp:sp modelId="{592AAAD1-2F47-447A-ADC3-C2B36B1FCA55}">
      <dsp:nvSpPr>
        <dsp:cNvPr id="14" name="Rectangles 13"/>
        <dsp:cNvSpPr/>
      </dsp:nvSpPr>
      <dsp:spPr bwMode="white">
        <a:xfrm>
          <a:off x="693213" y="2250692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  <a:endParaRPr>
            <a:solidFill>
              <a:schemeClr val="tx1"/>
            </a:solidFill>
          </a:endParaRPr>
        </a:p>
      </dsp:txBody>
      <dsp:txXfrm>
        <a:off x="693213" y="2250692"/>
        <a:ext cx="9822387" cy="600185"/>
      </dsp:txXfrm>
    </dsp:sp>
    <dsp:sp modelId="{666E2735-CA78-4D3B-9578-E51196DA70D9}">
      <dsp:nvSpPr>
        <dsp:cNvPr id="15" name="Rounded Rectangle 14"/>
        <dsp:cNvSpPr/>
      </dsp:nvSpPr>
      <dsp:spPr bwMode="white">
        <a:xfrm>
          <a:off x="0" y="3000923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3000923"/>
        <a:ext cx="10515600" cy="600185"/>
      </dsp:txXfrm>
    </dsp:sp>
    <dsp:sp modelId="{3FA6C01F-8168-4711-B087-BDCE72097D44}">
      <dsp:nvSpPr>
        <dsp:cNvPr id="16" name="Rectangles 15"/>
        <dsp:cNvSpPr/>
      </dsp:nvSpPr>
      <dsp:spPr bwMode="white">
        <a:xfrm>
          <a:off x="181556" y="3135964"/>
          <a:ext cx="330102" cy="330102"/>
        </a:xfrm>
        <a:prstGeom prst="rect">
          <a:avLst/>
        </a:prstGeom>
        <a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3135964"/>
        <a:ext cx="330102" cy="330102"/>
      </dsp:txXfrm>
    </dsp:sp>
    <dsp:sp modelId="{64F2101E-37B6-4A91-8969-9CAE8E240584}">
      <dsp:nvSpPr>
        <dsp:cNvPr id="17" name="Rectangles 16"/>
        <dsp:cNvSpPr/>
      </dsp:nvSpPr>
      <dsp:spPr bwMode="white">
        <a:xfrm>
          <a:off x="693213" y="3000923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>
            <a:solidFill>
              <a:schemeClr val="tx1"/>
            </a:solidFill>
          </a:endParaRPr>
        </a:p>
      </dsp:txBody>
      <dsp:txXfrm>
        <a:off x="693213" y="3000923"/>
        <a:ext cx="9822387" cy="600185"/>
      </dsp:txXfrm>
    </dsp:sp>
    <dsp:sp modelId="{1B466F9E-EE2C-4F8C-B2EE-0427D8DB34C2}">
      <dsp:nvSpPr>
        <dsp:cNvPr id="18" name="Rounded Rectangle 17"/>
        <dsp:cNvSpPr/>
      </dsp:nvSpPr>
      <dsp:spPr bwMode="white">
        <a:xfrm>
          <a:off x="0" y="3751153"/>
          <a:ext cx="10515600" cy="600185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2">
          <a:scrgbClr r="0" g="0" b="0"/>
        </a:effectRef>
        <a:fontRef idx="minor"/>
      </dsp:style>
      <dsp:txXfrm>
        <a:off x="0" y="3751153"/>
        <a:ext cx="10515600" cy="600185"/>
      </dsp:txXfrm>
    </dsp:sp>
    <dsp:sp modelId="{3A8C03A0-3919-44AB-B03C-4D473190151D}">
      <dsp:nvSpPr>
        <dsp:cNvPr id="19" name="Rectangles 18"/>
        <dsp:cNvSpPr/>
      </dsp:nvSpPr>
      <dsp:spPr bwMode="white">
        <a:xfrm>
          <a:off x="181556" y="3886195"/>
          <a:ext cx="330102" cy="330102"/>
        </a:xfrm>
        <a:prstGeom prst="rect">
          <a:avLst/>
        </a:prstGeom>
        <a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81556" y="3886195"/>
        <a:ext cx="330102" cy="330102"/>
      </dsp:txXfrm>
    </dsp:sp>
    <dsp:sp modelId="{450821D5-1256-4458-8590-FE93415F8374}">
      <dsp:nvSpPr>
        <dsp:cNvPr id="20" name="Rectangles 19"/>
        <dsp:cNvSpPr/>
      </dsp:nvSpPr>
      <dsp:spPr bwMode="white">
        <a:xfrm>
          <a:off x="693213" y="3751153"/>
          <a:ext cx="9822387" cy="6001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19" tIns="63519" rIns="63519" bIns="63519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  <a:endParaRPr>
            <a:solidFill>
              <a:schemeClr val="tx1"/>
            </a:solidFill>
          </a:endParaRPr>
        </a:p>
      </dsp:txBody>
      <dsp:txXfrm>
        <a:off x="693213" y="3751153"/>
        <a:ext cx="9822387" cy="600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>
            <a:grpSpLocks noGrp="1" noRot="1" noChangeAspect="1" noMove="1" noResize="1" noUngrp="1"/>
          </p:cNvGrpSpPr>
          <p:nvPr/>
        </p:nvGrpSpPr>
        <p:grpSpPr>
          <a:xfrm flipV="1">
            <a:off x="0" y="4130040"/>
            <a:ext cx="12202160" cy="2728595"/>
            <a:chOff x="0" y="-29768"/>
            <a:chExt cx="12202174" cy="1519356"/>
          </a:xfrm>
        </p:grpSpPr>
        <p:sp>
          <p:nvSpPr>
            <p:cNvPr id="58" name="Rectangle 57"/>
            <p:cNvSpPr/>
            <p:nvPr/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454" y="214355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14355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52558" y="2025042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>
            <a:fillRect/>
          </a:stretch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92455" y="4331335"/>
            <a:ext cx="10824845" cy="2304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“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SignSight : A Robust Deep Vision Framework for Real-Time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of Traffic Sign Under Adverse Weather Conditions”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675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Name: Nallamothu Vinay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45720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Nallamothu Vinay,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Reddy Dodda, Venkata Rao Marella,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457200"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Lakshmaiah Eerlapati, Teja Naga Anil Kumar Yepuri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Narasaraopeta Engineering College, Narasaraopet, Andhra Pradesh, India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/>
          <p:cNvPicPr>
            <a:picLocks noChangeAspect="1" noChangeArrowheads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4605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14605"/>
            <a:ext cx="9688195" cy="1122045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825" y="1385570"/>
            <a:ext cx="10443210" cy="4410710"/>
          </a:xfrm>
        </p:spPr>
        <p:txBody>
          <a:bodyPr anchor="t">
            <a:no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signs play a crucial role in ensuring road safety and assisting autonomous vehicles in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real-world conditions like rain, fog, poor lighting, and occlusion make detection highly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often fail under these adverse weather conditions or when signs are small and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blurred.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SignSight is introduced as a robust deep vision framework designed to accurately detect and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traffic signs in real time, even in difficult conditions.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leverages BiFPN-based feature fusion and advanced data augmentation to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detection of blurred or distant signs.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980" y="14605"/>
            <a:ext cx="9688195" cy="1252220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345" y="1462405"/>
            <a:ext cx="11534140" cy="4938395"/>
          </a:xfrm>
        </p:spPr>
        <p:txBody>
          <a:bodyPr anchor="t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Existing detection models (like YOLO, SSD, and R-CNN) show strong results on benchmark datasets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struggle in real-world, weather-affected environments.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There is a need for a lightweight, accurate, and weather-resilient model suitable for edge devices.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Contributions: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hybrid CNN + YOLOv8 architecture combining classification and detection for robust performance.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Integration of Bidirectional Feature Pyramid Network (BiFPN) for small-object and multi-scale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Advanced data preprocessing and augmentation to simulate real-world weather effects.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Achieved 97.4% accuracy with real time performance ensured.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780" y="0"/>
            <a:ext cx="9395460" cy="1204595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30" y="1460500"/>
            <a:ext cx="11461750" cy="4556760"/>
          </a:xfrm>
        </p:spPr>
        <p:txBody>
          <a:bodyPr anchor="t">
            <a:normAutofit fontScale="25000"/>
          </a:bodyPr>
          <a:lstStyle/>
          <a:p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Notable Works:</a:t>
            </a:r>
            <a:endParaRPr lang="en-US" alt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YOLO-BS (Zhang et al., 2025): Added BiFPN for small-object detection.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MASG-</a:t>
            </a: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(Du et al., 2025): Context-aware multi-scale detection.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Grounding DINO + Distillation (Ma et al., 2025): Model compression with minimal loss.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YOLOv8 (</a:t>
            </a: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Chen et al., 2025): E</a:t>
            </a: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nhanced with Ghost Convolutions and attention modules.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Classification (Pathi et al., 2025):  Explored hybrid CNN designs to enhance recognition accuracy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validation under adverse weather, Small-sign detection remains inconsistent 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High accuracy v/s real-time performance trade-off unresolved.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 (SignSight):</a:t>
            </a: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YOLOv8 + CNN + BiFPN for weather-robust, real-time perception.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755" y="189865"/>
            <a:ext cx="9688195" cy="1042035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Proposed </a:t>
            </a:r>
            <a: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System Model</a:t>
            </a:r>
            <a:endParaRPr lang="en-US" sz="44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595" y="1466850"/>
            <a:ext cx="11578590" cy="4933950"/>
          </a:xfrm>
        </p:spPr>
        <p:txBody>
          <a:bodyPr anchor="t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modules: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CNN Classifier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Performs fine-grained classification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cropped sign regions to recognize exact categories.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YOLOv8 Detector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Identifies and localizes traffic signs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real-time using BiFPN for enhanced multi-scale detection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45720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 → Preprocessing (Cleaning,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Normalization, Augmentation) →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CNN Classification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YOLOv8 Detection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Output with Labels.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OpenCV, PyTorch, Keras, Albumentations, LabelImg, Google Colab.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835" y="1036320"/>
            <a:ext cx="4399280" cy="3068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"/>
            <a:ext cx="9688195" cy="1011555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Simulation Setup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705" y="1016635"/>
            <a:ext cx="11386820" cy="5222875"/>
          </a:xfrm>
        </p:spPr>
        <p:txBody>
          <a:bodyPr anchor="t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Implemented: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German Traffic Sign Recognition Benchmark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(GTSRB) - A widely used benchmark dataset for traffic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recognition containing over 50,000 labeled images.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Includes 43 distinct classes such as speed limits,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prohibitory signs, direction indicators, and warning signs.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Tested on real-world images robustness.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→ Resizing (30×30 for CNN,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640×640 for YOLO) → Normalization → Augmentation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improve robustness, the dataset is augmented with multiple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transformations of rotation, brightness, blur, occlusion simulation).</a:t>
            </a:r>
            <a:endParaRPr lang="en-US" altLang="en-US" sz="17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Screenshot_h"/>
          <p:cNvPicPr>
            <a:picLocks noChangeAspect="1"/>
          </p:cNvPicPr>
          <p:nvPr/>
        </p:nvPicPr>
        <p:blipFill>
          <a:blip r:embed="rId3"/>
          <a:srcRect r="18452"/>
          <a:stretch>
            <a:fillRect/>
          </a:stretch>
        </p:blipFill>
        <p:spPr>
          <a:xfrm>
            <a:off x="7012940" y="1026795"/>
            <a:ext cx="4671695" cy="2566670"/>
          </a:xfrm>
          <a:prstGeom prst="rect">
            <a:avLst/>
          </a:prstGeom>
        </p:spPr>
      </p:pic>
      <p:pic>
        <p:nvPicPr>
          <p:cNvPr id="6" name="Picture 5" descr="Screenshot_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65" y="3973195"/>
            <a:ext cx="3415665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88195" cy="942975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Results and Discussions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440" y="1055370"/>
            <a:ext cx="11417300" cy="5201285"/>
          </a:xfrm>
        </p:spPr>
        <p:txBody>
          <a:bodyPr anchor="t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Training 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lightweight CNN classifier was trained to achieve a validation accuracy of  97.4%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Detection 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YOLOv8 on the GTSRB dataset in YOLO format achieved a detection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98.7% when tested on both benchmark and real-world images.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Evaluated using Precision, Recall, F1-Score and Confusion Matrix which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collectively confirmed reliable detection and classification.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down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55" y="3048635"/>
            <a:ext cx="5532120" cy="3208020"/>
          </a:xfrm>
          <a:prstGeom prst="rect">
            <a:avLst/>
          </a:prstGeom>
        </p:spPr>
      </p:pic>
      <p:pic>
        <p:nvPicPr>
          <p:cNvPr id="6" name="Picture 5" descr="download_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35" y="3167380"/>
            <a:ext cx="4904740" cy="3089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"/>
            <a:ext cx="9688195" cy="1021080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Conclusion &amp; Future Work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10" y="1151890"/>
            <a:ext cx="11355705" cy="5249545"/>
          </a:xfrm>
        </p:spPr>
        <p:txBody>
          <a:bodyPr anchor="t">
            <a:no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SignSight successfully integrates YOLOv8 for detection and a lightweight CNN for classification,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real-time and weather-resilient traffic sign perception.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delivers high accuracy (98.7%) and fast inference speed, ensuring suitability for edge and IoT-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deployment.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handles occlusion, blur, and poor illumination, improving the reliability of autonomous and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transportation systems.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Weather Simulation: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synthetic rain, fog, and night-driving conditions 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Multi-Modal Integration: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camera + LIDAR/Radar for improved perception under extreme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Edge Optimization: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quantization and pruning for deployment on Jetson NanoRaspberry Pi devices.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Regional &amp; Scalable Adaptation: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model to regional sign datasets (e.g., Indian traffic signs)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"/>
            <a:ext cx="9688195" cy="1003935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References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20" y="1198245"/>
            <a:ext cx="11543665" cy="464248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Qiu, W. Zhang, S. Xu, and H. Zhou: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“DP-YOLO: A Lightweight Traffic Sign Detection Model for 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Object Detection”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(Digital Signal Processing, vol. 165, p. 105311, 2025).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Zhang, M. Liang, and Y. Wang: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“YOLO-BS: A Traffic Sign Detection Algorithm Based on YOLOv8”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(Scientific Reports, vol. 15, no. 1, p. 7558, 2025).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C. Du, S. Su, C. Lin, Y. Yao, R. Jin, and X. Hong: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Lightweight Network for Traffic Sign Detection 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Multiple Scale Context Awareness and Semantic Information Guidance (MASG-Net)”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(Scientific Reports, vol. 15, no. 1, p. 10110, 2025).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H. N. Tran, N. N. N. Nguyen, N. Q. P. Le, and A. D. Nguyen: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“Grounding DINO and Distillation-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Model for Advanced Traffic Sign Detection and Classification in Autonomous Vehicles”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(Pattern Recognition, vol. 138, pp. 109245–109256, 2025).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R. Megalingam, K. Thanigundala, S. Musani, and L. Gadde: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“Indian Traffic Sign Detection and 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Using Deep Learning”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(Sensors, vol. 25, no. 6, pp. 2351–2366, 2025.)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65" y="184150"/>
            <a:ext cx="9688195" cy="1115060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Reviewer Comments Addressed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90" y="1562735"/>
            <a:ext cx="11357610" cy="4573905"/>
          </a:xfrm>
        </p:spPr>
        <p:txBody>
          <a:bodyPr anchor="t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English Proficiency: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manuscript’s language has been thoroughly revised for improved grammar, clarity, and academic tone, ensuring better readability and precision.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Figure Quality: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figures have been updated to high-resolution versions with refined labeling and enhanced visual clarity compared to the previous submission.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Mathematical Equations: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mathematical formulations and expressions have been incorporated wherever necessary to strengthen the technical depth and theoretical explanation.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References: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reference list has been reformatted to adhere strictly to IEEE citation standards, ensuring consistency and correctness across all entries.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Comparative Analysis: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comparative graph and performance study have been included, clearly illustrating the advantages of the hybrid CNN–YOLOv8 approach over standalone models in terms of accuracy, precision, and robustness.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  <a14:imgEffect>
                      <a14:saturation sat="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6891</Words>
  <Application>WPS Presentation</Application>
  <PresentationFormat>Widescreen</PresentationFormat>
  <Paragraphs>133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Calibri</vt:lpstr>
      <vt:lpstr>Arial</vt:lpstr>
      <vt:lpstr>Aptos</vt:lpstr>
      <vt:lpstr>Segoe UI</vt:lpstr>
      <vt:lpstr>Microsoft YaHei</vt:lpstr>
      <vt:lpstr>Arial Unicode MS</vt:lpstr>
      <vt:lpstr>Aptos Display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Results and Discussions</vt:lpstr>
      <vt:lpstr>Conclusion &amp; Future Work</vt:lpstr>
      <vt:lpstr>References</vt:lpstr>
      <vt:lpstr>Reviewer Comments Addressed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Vinay Nallamothu</cp:lastModifiedBy>
  <cp:revision>10</cp:revision>
  <dcterms:created xsi:type="dcterms:W3CDTF">2025-10-21T04:39:00Z</dcterms:created>
  <dcterms:modified xsi:type="dcterms:W3CDTF">2025-10-30T07:20:51Z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AB7EC3DDB5054D30918DC17C786976B5_12</vt:lpwstr>
  </property>
  <property fmtid="{D5CDD505-2E9C-101B-9397-08002B2CF9AE}" pid="3" name="KSOProductBuildVer">
    <vt:lpwstr>1033-12.2.0.23131</vt:lpwstr>
  </property>
</Properties>
</file>